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6256000" cy="9144000"/>
  <p:notesSz cx="9144000" cy="16256000"/>
  <p:embeddedFontLst>
    <p:embeddedFont>
      <p:font typeface="微软雅黑" panose="020B0503020204020204" pitchFamily="34" charset="-122"/>
      <p:regular r:id="rId9"/>
      <p:bold r:id="rId10"/>
    </p:embeddedFont>
    <p:embeddedFont>
      <p:font typeface="Liter" panose="020B0604020202020204" charset="0"/>
      <p:regular r:id="rId11"/>
    </p:embeddedFont>
    <p:embeddedFont>
      <p:font typeface="Sorts Mill Goudy" panose="020B0604020202020204" charset="0"/>
      <p:regular r:id="rId12"/>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2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7522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7296"/>
            <a:ext cx="9753600" cy="9144000"/>
          </a:xfrm>
          <a:prstGeom prst="rect">
            <a:avLst/>
          </a:prstGeom>
          <a:solidFill>
            <a:srgbClr val="0F2647"/>
          </a:solidFill>
          <a:ln/>
        </p:spPr>
      </p:sp>
      <p:sp>
        <p:nvSpPr>
          <p:cNvPr id="3" name="Shape 1"/>
          <p:cNvSpPr/>
          <p:nvPr/>
        </p:nvSpPr>
        <p:spPr>
          <a:xfrm>
            <a:off x="0" y="0"/>
            <a:ext cx="9753600" cy="63500"/>
          </a:xfrm>
          <a:prstGeom prst="rect">
            <a:avLst/>
          </a:prstGeom>
          <a:solidFill>
            <a:srgbClr val="C9963B"/>
          </a:solidFill>
          <a:ln/>
        </p:spPr>
      </p:sp>
      <p:sp>
        <p:nvSpPr>
          <p:cNvPr id="4" name="Text 2"/>
          <p:cNvSpPr/>
          <p:nvPr/>
        </p:nvSpPr>
        <p:spPr>
          <a:xfrm>
            <a:off x="762000" y="635000"/>
            <a:ext cx="5080000" cy="330200"/>
          </a:xfrm>
          <a:prstGeom prst="rect">
            <a:avLst/>
          </a:prstGeom>
          <a:noFill/>
          <a:ln/>
        </p:spPr>
        <p:txBody>
          <a:bodyPr wrap="none" lIns="0" tIns="0" rIns="0" bIns="0" rtlCol="0" anchor="ctr"/>
          <a:lstStyle/>
          <a:p>
            <a:pPr>
              <a:lnSpc>
                <a:spcPct val="100000"/>
              </a:lnSpc>
            </a:pPr>
            <a:r>
              <a:rPr lang="en-US" sz="1300" kern="0" spc="100" dirty="0">
                <a:solidFill>
                  <a:srgbClr val="FFFFFF"/>
                </a:solidFill>
                <a:latin typeface="Liter" pitchFamily="34" charset="0"/>
                <a:ea typeface="Liter" pitchFamily="34" charset="-122"/>
                <a:cs typeface="Liter" pitchFamily="34" charset="-120"/>
              </a:rPr>
              <a:t>PROJET DATA ANALYST · SIMPLON</a:t>
            </a:r>
            <a:endParaRPr lang="en-US" sz="1600" dirty="0"/>
          </a:p>
        </p:txBody>
      </p:sp>
      <p:sp>
        <p:nvSpPr>
          <p:cNvPr id="5" name="Shape 3"/>
          <p:cNvSpPr/>
          <p:nvPr/>
        </p:nvSpPr>
        <p:spPr>
          <a:xfrm>
            <a:off x="762000" y="1143000"/>
            <a:ext cx="1270000" cy="25400"/>
          </a:xfrm>
          <a:prstGeom prst="rect">
            <a:avLst/>
          </a:prstGeom>
          <a:solidFill>
            <a:srgbClr val="C9963B"/>
          </a:solidFill>
          <a:ln/>
        </p:spPr>
      </p:sp>
      <p:sp>
        <p:nvSpPr>
          <p:cNvPr id="6" name="Text 4"/>
          <p:cNvSpPr/>
          <p:nvPr/>
        </p:nvSpPr>
        <p:spPr>
          <a:xfrm>
            <a:off x="762000" y="1397000"/>
            <a:ext cx="8128000" cy="1905000"/>
          </a:xfrm>
          <a:prstGeom prst="rect">
            <a:avLst/>
          </a:prstGeom>
          <a:noFill/>
          <a:ln/>
        </p:spPr>
        <p:txBody>
          <a:bodyPr wrap="square" lIns="0" tIns="0" rIns="0" bIns="0" rtlCol="0" anchor="t"/>
          <a:lstStyle/>
          <a:p>
            <a:pPr>
              <a:lnSpc>
                <a:spcPct val="130000"/>
              </a:lnSpc>
            </a:pPr>
            <a:r>
              <a:rPr lang="en-US" sz="4800" b="1" dirty="0">
                <a:solidFill>
                  <a:srgbClr val="FFFFFF"/>
                </a:solidFill>
                <a:latin typeface="Sorts Mill Goudy" pitchFamily="34" charset="0"/>
                <a:ea typeface="Sorts Mill Goudy" pitchFamily="34" charset="-122"/>
                <a:cs typeface="Sorts Mill Goudy" pitchFamily="34" charset="-120"/>
              </a:rPr>
              <a:t>Construction d'un Data Warehouse</a:t>
            </a:r>
            <a:endParaRPr lang="en-US" sz="1600" dirty="0"/>
          </a:p>
        </p:txBody>
      </p:sp>
      <p:sp>
        <p:nvSpPr>
          <p:cNvPr id="7" name="Text 5"/>
          <p:cNvSpPr/>
          <p:nvPr/>
        </p:nvSpPr>
        <p:spPr>
          <a:xfrm>
            <a:off x="762000" y="3365500"/>
            <a:ext cx="8128000" cy="457200"/>
          </a:xfrm>
          <a:prstGeom prst="rect">
            <a:avLst/>
          </a:prstGeom>
          <a:noFill/>
          <a:ln/>
        </p:spPr>
        <p:txBody>
          <a:bodyPr wrap="none" lIns="0" tIns="0" rIns="0" bIns="0" rtlCol="0" anchor="ctr"/>
          <a:lstStyle/>
          <a:p>
            <a:pPr>
              <a:lnSpc>
                <a:spcPct val="100000"/>
              </a:lnSpc>
            </a:pPr>
            <a:r>
              <a:rPr lang="en-US" sz="1800" dirty="0">
                <a:solidFill>
                  <a:srgbClr val="FFFFFF">
                    <a:alpha val="80000"/>
                  </a:srgbClr>
                </a:solidFill>
                <a:latin typeface="Liter" pitchFamily="34" charset="0"/>
                <a:ea typeface="Liter" pitchFamily="34" charset="-122"/>
                <a:cs typeface="Liter" pitchFamily="34" charset="-120"/>
              </a:rPr>
              <a:t>Architecture Bronze → Silver → Gold | Pipeline ETL complet</a:t>
            </a:r>
            <a:endParaRPr lang="en-US" sz="1600" dirty="0"/>
          </a:p>
        </p:txBody>
      </p:sp>
      <p:sp>
        <p:nvSpPr>
          <p:cNvPr id="8" name="Shape 6"/>
          <p:cNvSpPr/>
          <p:nvPr/>
        </p:nvSpPr>
        <p:spPr>
          <a:xfrm>
            <a:off x="762000" y="4000500"/>
            <a:ext cx="2286000" cy="12700"/>
          </a:xfrm>
          <a:prstGeom prst="rect">
            <a:avLst/>
          </a:prstGeom>
          <a:solidFill>
            <a:srgbClr val="C9963B"/>
          </a:solidFill>
          <a:ln/>
        </p:spPr>
      </p:sp>
      <p:sp>
        <p:nvSpPr>
          <p:cNvPr id="9" name="Text 7"/>
          <p:cNvSpPr/>
          <p:nvPr/>
        </p:nvSpPr>
        <p:spPr>
          <a:xfrm>
            <a:off x="762000" y="4216400"/>
            <a:ext cx="5080000" cy="330200"/>
          </a:xfrm>
          <a:prstGeom prst="rect">
            <a:avLst/>
          </a:prstGeom>
          <a:noFill/>
          <a:ln/>
        </p:spPr>
        <p:txBody>
          <a:bodyPr wrap="none" lIns="0" tIns="0" rIns="0" bIns="0" rtlCol="0" anchor="ctr"/>
          <a:lstStyle/>
          <a:p>
            <a:pPr>
              <a:lnSpc>
                <a:spcPct val="100000"/>
              </a:lnSpc>
            </a:pPr>
            <a:r>
              <a:rPr lang="en-US" sz="1500" dirty="0">
                <a:solidFill>
                  <a:srgbClr val="FFFFFF">
                    <a:alpha val="66700"/>
                  </a:srgbClr>
                </a:solidFill>
                <a:latin typeface="Liter" pitchFamily="34" charset="0"/>
                <a:ea typeface="Liter" pitchFamily="34" charset="-122"/>
                <a:cs typeface="Liter" pitchFamily="34" charset="-120"/>
              </a:rPr>
              <a:t>Réalisé par : Mostapha M'bairik</a:t>
            </a:r>
            <a:endParaRPr lang="en-US" sz="1600" dirty="0"/>
          </a:p>
        </p:txBody>
      </p:sp>
      <p:sp>
        <p:nvSpPr>
          <p:cNvPr id="10" name="Text 8"/>
          <p:cNvSpPr/>
          <p:nvPr/>
        </p:nvSpPr>
        <p:spPr>
          <a:xfrm>
            <a:off x="762000" y="4597400"/>
            <a:ext cx="5080000" cy="330200"/>
          </a:xfrm>
          <a:prstGeom prst="rect">
            <a:avLst/>
          </a:prstGeom>
          <a:noFill/>
          <a:ln/>
        </p:spPr>
        <p:txBody>
          <a:bodyPr wrap="none" lIns="0" tIns="0" rIns="0" bIns="0" rtlCol="0" anchor="ctr"/>
          <a:lstStyle/>
          <a:p>
            <a:pPr>
              <a:lnSpc>
                <a:spcPct val="100000"/>
              </a:lnSpc>
            </a:pPr>
            <a:r>
              <a:rPr lang="en-US" sz="1400" dirty="0">
                <a:solidFill>
                  <a:srgbClr val="FFFFFF">
                    <a:alpha val="53300"/>
                  </a:srgbClr>
                </a:solidFill>
                <a:latin typeface="Liter" pitchFamily="34" charset="0"/>
                <a:ea typeface="Liter" pitchFamily="34" charset="-122"/>
                <a:cs typeface="Liter" pitchFamily="34" charset="-120"/>
              </a:rPr>
              <a:t>Mai 2026 · Formation Data Analyst</a:t>
            </a:r>
            <a:endParaRPr lang="en-US" sz="1600" dirty="0"/>
          </a:p>
        </p:txBody>
      </p:sp>
      <p:sp>
        <p:nvSpPr>
          <p:cNvPr id="11" name="Text 9"/>
          <p:cNvSpPr/>
          <p:nvPr/>
        </p:nvSpPr>
        <p:spPr>
          <a:xfrm>
            <a:off x="762000" y="8420100"/>
            <a:ext cx="8128000" cy="254000"/>
          </a:xfrm>
          <a:prstGeom prst="rect">
            <a:avLst/>
          </a:prstGeom>
          <a:noFill/>
          <a:ln/>
        </p:spPr>
        <p:txBody>
          <a:bodyPr wrap="square" lIns="0" tIns="0" rIns="0" bIns="0" rtlCol="0" anchor="ctr"/>
          <a:lstStyle/>
          <a:p>
            <a:pPr>
              <a:lnSpc>
                <a:spcPct val="100000"/>
              </a:lnSpc>
            </a:pPr>
            <a:r>
              <a:rPr lang="en-US" sz="1100" dirty="0">
                <a:solidFill>
                  <a:srgbClr val="FFFFFF">
                    <a:alpha val="33300"/>
                  </a:srgbClr>
                </a:solidFill>
                <a:latin typeface="Liter" pitchFamily="34" charset="0"/>
                <a:ea typeface="Liter" pitchFamily="34" charset="-122"/>
                <a:cs typeface="Liter" pitchFamily="34" charset="-120"/>
              </a:rPr>
              <a:t>Projet individuel · 5 jours · SQL Server Management Studio (SSMS)</a:t>
            </a:r>
            <a:endParaRPr lang="en-US" sz="1600" dirty="0"/>
          </a:p>
        </p:txBody>
      </p:sp>
      <p:sp>
        <p:nvSpPr>
          <p:cNvPr id="12" name="Shape 10"/>
          <p:cNvSpPr/>
          <p:nvPr/>
        </p:nvSpPr>
        <p:spPr>
          <a:xfrm>
            <a:off x="9753600" y="0"/>
            <a:ext cx="6502400" cy="6350000"/>
          </a:xfrm>
          <a:prstGeom prst="rect">
            <a:avLst/>
          </a:prstGeom>
          <a:solidFill>
            <a:srgbClr val="1A2B40"/>
          </a:solidFill>
          <a:ln/>
        </p:spPr>
      </p:sp>
      <p:sp>
        <p:nvSpPr>
          <p:cNvPr id="13" name="Shape 11"/>
          <p:cNvSpPr/>
          <p:nvPr/>
        </p:nvSpPr>
        <p:spPr>
          <a:xfrm>
            <a:off x="9753600" y="0"/>
            <a:ext cx="6502400" cy="50800"/>
          </a:xfrm>
          <a:prstGeom prst="rect">
            <a:avLst/>
          </a:prstGeom>
          <a:solidFill>
            <a:srgbClr val="C9963B"/>
          </a:solidFill>
          <a:ln/>
        </p:spPr>
      </p:sp>
      <p:sp>
        <p:nvSpPr>
          <p:cNvPr id="14" name="Text 12"/>
          <p:cNvSpPr/>
          <p:nvPr/>
        </p:nvSpPr>
        <p:spPr>
          <a:xfrm>
            <a:off x="10727330" y="2273300"/>
            <a:ext cx="4554940" cy="1803400"/>
          </a:xfrm>
          <a:prstGeom prst="rect">
            <a:avLst/>
          </a:prstGeom>
          <a:noFill/>
          <a:ln/>
        </p:spPr>
        <p:txBody>
          <a:bodyPr wrap="none" lIns="0" tIns="0" rIns="0" bIns="0" rtlCol="0" anchor="ctr"/>
          <a:lstStyle/>
          <a:p>
            <a:pPr algn="ctr">
              <a:lnSpc>
                <a:spcPct val="100000"/>
              </a:lnSpc>
            </a:pPr>
            <a:r>
              <a:rPr lang="en-US" sz="2000" dirty="0">
                <a:solidFill>
                  <a:srgbClr val="FFFFFF">
                    <a:alpha val="40000"/>
                  </a:srgbClr>
                </a:solidFill>
                <a:latin typeface="Liter" pitchFamily="34" charset="0"/>
                <a:ea typeface="Liter" pitchFamily="34" charset="-122"/>
                <a:cs typeface="Liter" pitchFamily="34" charset="-120"/>
              </a:rPr>
              <a:t>[ ARCHITECTURE ETL ]</a:t>
            </a:r>
            <a:endParaRPr lang="en-US" sz="2800" dirty="0"/>
          </a:p>
        </p:txBody>
      </p:sp>
      <p:sp>
        <p:nvSpPr>
          <p:cNvPr id="15" name="Text 13"/>
          <p:cNvSpPr/>
          <p:nvPr/>
        </p:nvSpPr>
        <p:spPr>
          <a:xfrm>
            <a:off x="10464800" y="6591300"/>
            <a:ext cx="2540000" cy="635000"/>
          </a:xfrm>
          <a:prstGeom prst="rect">
            <a:avLst/>
          </a:prstGeom>
          <a:noFill/>
          <a:ln/>
        </p:spPr>
        <p:txBody>
          <a:bodyPr wrap="none" lIns="0" tIns="0" rIns="0" bIns="0" rtlCol="0" anchor="ctr"/>
          <a:lstStyle/>
          <a:p>
            <a:pPr>
              <a:lnSpc>
                <a:spcPct val="100000"/>
              </a:lnSpc>
            </a:pPr>
            <a:r>
              <a:rPr lang="en-US" sz="3400" b="1" dirty="0">
                <a:solidFill>
                  <a:srgbClr val="1B3A6B"/>
                </a:solidFill>
                <a:latin typeface="Sorts Mill Goudy" pitchFamily="34" charset="0"/>
              </a:rPr>
              <a:t>20 000 row</a:t>
            </a:r>
            <a:endParaRPr lang="en-US" sz="1600" dirty="0"/>
          </a:p>
        </p:txBody>
      </p:sp>
      <p:sp>
        <p:nvSpPr>
          <p:cNvPr id="16" name="Text 14"/>
          <p:cNvSpPr/>
          <p:nvPr/>
        </p:nvSpPr>
        <p:spPr>
          <a:xfrm>
            <a:off x="13341444" y="6940834"/>
            <a:ext cx="2540000" cy="635000"/>
          </a:xfrm>
          <a:prstGeom prst="rect">
            <a:avLst/>
          </a:prstGeom>
          <a:noFill/>
          <a:ln/>
        </p:spPr>
        <p:txBody>
          <a:bodyPr wrap="none" lIns="0" tIns="0" rIns="0" bIns="0" rtlCol="0" anchor="ctr"/>
          <a:lstStyle/>
          <a:p>
            <a:pPr>
              <a:lnSpc>
                <a:spcPct val="100000"/>
              </a:lnSpc>
            </a:pPr>
            <a:r>
              <a:rPr lang="en-US" sz="3400" b="1" dirty="0">
                <a:solidFill>
                  <a:srgbClr val="C9963B"/>
                </a:solidFill>
                <a:latin typeface="Sorts Mill Goudy" pitchFamily="34" charset="0"/>
                <a:ea typeface="Sorts Mill Goudy" pitchFamily="34" charset="-122"/>
                <a:cs typeface="Sorts Mill Goudy" pitchFamily="34" charset="-120"/>
              </a:rPr>
              <a:t>3 Layers</a:t>
            </a:r>
            <a:endParaRPr lang="en-US" sz="1600" dirty="0"/>
          </a:p>
        </p:txBody>
      </p:sp>
      <p:sp>
        <p:nvSpPr>
          <p:cNvPr id="17" name="Text 15"/>
          <p:cNvSpPr/>
          <p:nvPr/>
        </p:nvSpPr>
        <p:spPr>
          <a:xfrm>
            <a:off x="10160000" y="7747000"/>
            <a:ext cx="5334000" cy="635000"/>
          </a:xfrm>
          <a:prstGeom prst="rect">
            <a:avLst/>
          </a:prstGeom>
          <a:noFill/>
          <a:ln/>
        </p:spPr>
        <p:txBody>
          <a:bodyPr wrap="none" lIns="0" tIns="0" rIns="0" bIns="0" rtlCol="0" anchor="ctr"/>
          <a:lstStyle/>
          <a:p>
            <a:pPr>
              <a:lnSpc>
                <a:spcPct val="100000"/>
              </a:lnSpc>
            </a:pPr>
            <a:r>
              <a:rPr lang="en-US" sz="1300" dirty="0">
                <a:solidFill>
                  <a:srgbClr val="2D2D2D"/>
                </a:solidFill>
                <a:latin typeface="Liter" pitchFamily="34" charset="0"/>
                <a:ea typeface="Liter" pitchFamily="34" charset="-122"/>
                <a:cs typeface="Liter" pitchFamily="34" charset="-120"/>
              </a:rPr>
              <a:t>Transactions financières · Bronze / Silver / Gold</a:t>
            </a:r>
            <a:endParaRPr lang="en-US" sz="1600" dirty="0"/>
          </a:p>
        </p:txBody>
      </p:sp>
      <p:sp>
        <p:nvSpPr>
          <p:cNvPr id="18" name="Shape 16"/>
          <p:cNvSpPr/>
          <p:nvPr/>
        </p:nvSpPr>
        <p:spPr>
          <a:xfrm>
            <a:off x="10160000" y="8483600"/>
            <a:ext cx="5334000" cy="12700"/>
          </a:xfrm>
          <a:prstGeom prst="rect">
            <a:avLst/>
          </a:prstGeom>
          <a:solidFill>
            <a:srgbClr val="D0D8E4"/>
          </a:solidFill>
          <a:ln/>
        </p:spPr>
      </p:sp>
      <p:sp>
        <p:nvSpPr>
          <p:cNvPr id="19" name="Text 17"/>
          <p:cNvSpPr/>
          <p:nvPr/>
        </p:nvSpPr>
        <p:spPr>
          <a:xfrm>
            <a:off x="10160000" y="8572500"/>
            <a:ext cx="5334000" cy="279400"/>
          </a:xfrm>
          <a:prstGeom prst="rect">
            <a:avLst/>
          </a:prstGeom>
          <a:noFill/>
          <a:ln/>
        </p:spPr>
        <p:txBody>
          <a:bodyPr wrap="none" lIns="0" tIns="0" rIns="0" bIns="0" rtlCol="0" anchor="ctr"/>
          <a:lstStyle/>
          <a:p>
            <a:pPr>
              <a:lnSpc>
                <a:spcPct val="100000"/>
              </a:lnSpc>
            </a:pPr>
            <a:r>
              <a:rPr lang="en-US" sz="1200" dirty="0">
                <a:solidFill>
                  <a:srgbClr val="8899AA"/>
                </a:solidFill>
                <a:latin typeface="Liter" pitchFamily="34" charset="0"/>
                <a:ea typeface="Liter" pitchFamily="34" charset="-122"/>
                <a:cs typeface="Liter" pitchFamily="34" charset="-120"/>
              </a:rPr>
              <a:t>5 fichiers sources CSV · Modèle en étoile</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1B3A6B"/>
          </a:solidFill>
          <a:ln/>
        </p:spPr>
      </p:sp>
      <p:sp>
        <p:nvSpPr>
          <p:cNvPr id="3" name="Shape 1"/>
          <p:cNvSpPr/>
          <p:nvPr/>
        </p:nvSpPr>
        <p:spPr>
          <a:xfrm>
            <a:off x="635000" y="127000"/>
            <a:ext cx="50800" cy="685800"/>
          </a:xfrm>
          <a:prstGeom prst="rect">
            <a:avLst/>
          </a:prstGeom>
          <a:solidFill>
            <a:srgbClr val="C9963B"/>
          </a:solidFill>
          <a:ln/>
        </p:spPr>
      </p:sp>
      <p:sp>
        <p:nvSpPr>
          <p:cNvPr id="4" name="Text 2"/>
          <p:cNvSpPr/>
          <p:nvPr/>
        </p:nvSpPr>
        <p:spPr>
          <a:xfrm>
            <a:off x="787400" y="152400"/>
            <a:ext cx="14605000" cy="635000"/>
          </a:xfrm>
          <a:prstGeom prst="rect">
            <a:avLst/>
          </a:prstGeom>
          <a:noFill/>
          <a:ln/>
        </p:spPr>
        <p:txBody>
          <a:bodyPr wrap="square" lIns="0" tIns="0" rIns="0" bIns="0" rtlCol="0" anchor="ctr"/>
          <a:lstStyle/>
          <a:p>
            <a:pPr>
              <a:lnSpc>
                <a:spcPct val="100000"/>
              </a:lnSpc>
            </a:pPr>
            <a:r>
              <a:rPr lang="en-US" sz="2200" b="1" dirty="0">
                <a:solidFill>
                  <a:srgbClr val="0F2647"/>
                </a:solidFill>
                <a:latin typeface="Sorts Mill Goudy" pitchFamily="34" charset="0"/>
                <a:ea typeface="Sorts Mill Goudy" pitchFamily="34" charset="-122"/>
                <a:cs typeface="Sorts Mill Goudy" pitchFamily="34" charset="-120"/>
              </a:rPr>
              <a:t>Architecture en trois couches et cinq sources de données financières pour modélisation analytique</a:t>
            </a:r>
            <a:endParaRPr lang="en-US" sz="1600" dirty="0"/>
          </a:p>
        </p:txBody>
      </p:sp>
      <p:sp>
        <p:nvSpPr>
          <p:cNvPr id="5" name="Shape 3"/>
          <p:cNvSpPr/>
          <p:nvPr/>
        </p:nvSpPr>
        <p:spPr>
          <a:xfrm>
            <a:off x="635000" y="863600"/>
            <a:ext cx="14986000" cy="12700"/>
          </a:xfrm>
          <a:prstGeom prst="rect">
            <a:avLst/>
          </a:prstGeom>
          <a:solidFill>
            <a:srgbClr val="D0D8E4"/>
          </a:solidFill>
          <a:ln/>
        </p:spPr>
      </p:sp>
      <p:sp>
        <p:nvSpPr>
          <p:cNvPr id="6" name="Shape 4"/>
          <p:cNvSpPr/>
          <p:nvPr/>
        </p:nvSpPr>
        <p:spPr>
          <a:xfrm>
            <a:off x="1498600" y="1168400"/>
            <a:ext cx="558800" cy="558800"/>
          </a:xfrm>
          <a:prstGeom prst="ellipse">
            <a:avLst/>
          </a:prstGeom>
          <a:solidFill>
            <a:srgbClr val="1B3A6B"/>
          </a:solidFill>
          <a:ln/>
        </p:spPr>
      </p:sp>
      <p:sp>
        <p:nvSpPr>
          <p:cNvPr id="7" name="Text 5"/>
          <p:cNvSpPr/>
          <p:nvPr/>
        </p:nvSpPr>
        <p:spPr>
          <a:xfrm>
            <a:off x="1498600" y="1168400"/>
            <a:ext cx="558800" cy="5588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Sorts Mill Goudy" pitchFamily="34" charset="0"/>
                <a:ea typeface="Sorts Mill Goudy" pitchFamily="34" charset="-122"/>
                <a:cs typeface="Sorts Mill Goudy" pitchFamily="34" charset="-120"/>
              </a:rPr>
              <a:t>01</a:t>
            </a:r>
            <a:endParaRPr lang="en-US" sz="1600" dirty="0"/>
          </a:p>
        </p:txBody>
      </p:sp>
      <p:sp>
        <p:nvSpPr>
          <p:cNvPr id="8" name="Shape 6"/>
          <p:cNvSpPr/>
          <p:nvPr/>
        </p:nvSpPr>
        <p:spPr>
          <a:xfrm>
            <a:off x="2057400" y="1435100"/>
            <a:ext cx="2362200" cy="25400"/>
          </a:xfrm>
          <a:prstGeom prst="rect">
            <a:avLst/>
          </a:prstGeom>
          <a:solidFill>
            <a:srgbClr val="D0D8E4"/>
          </a:solidFill>
          <a:ln/>
        </p:spPr>
      </p:sp>
      <p:sp>
        <p:nvSpPr>
          <p:cNvPr id="9" name="Shape 7"/>
          <p:cNvSpPr/>
          <p:nvPr/>
        </p:nvSpPr>
        <p:spPr>
          <a:xfrm>
            <a:off x="4419600" y="1168400"/>
            <a:ext cx="558800" cy="558800"/>
          </a:xfrm>
          <a:prstGeom prst="ellipse">
            <a:avLst/>
          </a:prstGeom>
          <a:solidFill>
            <a:srgbClr val="1B3A6B"/>
          </a:solidFill>
          <a:ln/>
        </p:spPr>
      </p:sp>
      <p:sp>
        <p:nvSpPr>
          <p:cNvPr id="10" name="Text 8"/>
          <p:cNvSpPr/>
          <p:nvPr/>
        </p:nvSpPr>
        <p:spPr>
          <a:xfrm>
            <a:off x="4419600" y="1168400"/>
            <a:ext cx="558800" cy="5588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Sorts Mill Goudy" pitchFamily="34" charset="0"/>
                <a:ea typeface="Sorts Mill Goudy" pitchFamily="34" charset="-122"/>
                <a:cs typeface="Sorts Mill Goudy" pitchFamily="34" charset="-120"/>
              </a:rPr>
              <a:t>02</a:t>
            </a:r>
            <a:endParaRPr lang="en-US" sz="1600" dirty="0"/>
          </a:p>
        </p:txBody>
      </p:sp>
      <p:sp>
        <p:nvSpPr>
          <p:cNvPr id="11" name="Shape 9"/>
          <p:cNvSpPr/>
          <p:nvPr/>
        </p:nvSpPr>
        <p:spPr>
          <a:xfrm>
            <a:off x="4978400" y="1435100"/>
            <a:ext cx="2362200" cy="25400"/>
          </a:xfrm>
          <a:prstGeom prst="rect">
            <a:avLst/>
          </a:prstGeom>
          <a:solidFill>
            <a:srgbClr val="D0D8E4"/>
          </a:solidFill>
          <a:ln/>
        </p:spPr>
      </p:sp>
      <p:sp>
        <p:nvSpPr>
          <p:cNvPr id="12" name="Shape 10"/>
          <p:cNvSpPr/>
          <p:nvPr/>
        </p:nvSpPr>
        <p:spPr>
          <a:xfrm>
            <a:off x="7340600" y="1168400"/>
            <a:ext cx="558800" cy="558800"/>
          </a:xfrm>
          <a:prstGeom prst="ellipse">
            <a:avLst/>
          </a:prstGeom>
          <a:solidFill>
            <a:srgbClr val="C9963B"/>
          </a:solidFill>
          <a:ln/>
        </p:spPr>
      </p:sp>
      <p:sp>
        <p:nvSpPr>
          <p:cNvPr id="13" name="Text 11"/>
          <p:cNvSpPr/>
          <p:nvPr/>
        </p:nvSpPr>
        <p:spPr>
          <a:xfrm>
            <a:off x="7340600" y="1168400"/>
            <a:ext cx="558800" cy="5588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Sorts Mill Goudy" pitchFamily="34" charset="0"/>
                <a:ea typeface="Sorts Mill Goudy" pitchFamily="34" charset="-122"/>
                <a:cs typeface="Sorts Mill Goudy" pitchFamily="34" charset="-120"/>
              </a:rPr>
              <a:t>03</a:t>
            </a:r>
            <a:endParaRPr lang="en-US" sz="1600" dirty="0"/>
          </a:p>
        </p:txBody>
      </p:sp>
      <p:sp>
        <p:nvSpPr>
          <p:cNvPr id="14" name="Shape 12"/>
          <p:cNvSpPr/>
          <p:nvPr/>
        </p:nvSpPr>
        <p:spPr>
          <a:xfrm>
            <a:off x="7899400" y="1435100"/>
            <a:ext cx="2362200" cy="25400"/>
          </a:xfrm>
          <a:prstGeom prst="rect">
            <a:avLst/>
          </a:prstGeom>
          <a:solidFill>
            <a:srgbClr val="D0D8E4"/>
          </a:solidFill>
          <a:ln/>
        </p:spPr>
      </p:sp>
      <p:sp>
        <p:nvSpPr>
          <p:cNvPr id="15" name="Shape 13"/>
          <p:cNvSpPr/>
          <p:nvPr/>
        </p:nvSpPr>
        <p:spPr>
          <a:xfrm>
            <a:off x="10261600" y="1168400"/>
            <a:ext cx="558800" cy="558800"/>
          </a:xfrm>
          <a:prstGeom prst="ellipse">
            <a:avLst/>
          </a:prstGeom>
          <a:solidFill>
            <a:srgbClr val="0F2647"/>
          </a:solidFill>
          <a:ln/>
        </p:spPr>
      </p:sp>
      <p:sp>
        <p:nvSpPr>
          <p:cNvPr id="16" name="Text 14"/>
          <p:cNvSpPr/>
          <p:nvPr/>
        </p:nvSpPr>
        <p:spPr>
          <a:xfrm>
            <a:off x="10261600" y="1168400"/>
            <a:ext cx="558800" cy="5588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Sorts Mill Goudy" pitchFamily="34" charset="0"/>
                <a:ea typeface="Sorts Mill Goudy" pitchFamily="34" charset="-122"/>
                <a:cs typeface="Sorts Mill Goudy" pitchFamily="34" charset="-120"/>
              </a:rPr>
              <a:t>04</a:t>
            </a:r>
            <a:endParaRPr lang="en-US" sz="1600" dirty="0"/>
          </a:p>
        </p:txBody>
      </p:sp>
      <p:sp>
        <p:nvSpPr>
          <p:cNvPr id="17" name="Shape 15"/>
          <p:cNvSpPr/>
          <p:nvPr/>
        </p:nvSpPr>
        <p:spPr>
          <a:xfrm>
            <a:off x="10820400" y="1435100"/>
            <a:ext cx="2603500" cy="25400"/>
          </a:xfrm>
          <a:prstGeom prst="rect">
            <a:avLst/>
          </a:prstGeom>
          <a:solidFill>
            <a:srgbClr val="D0D8E4"/>
          </a:solidFill>
          <a:ln/>
        </p:spPr>
      </p:sp>
      <p:sp>
        <p:nvSpPr>
          <p:cNvPr id="18" name="Shape 16"/>
          <p:cNvSpPr/>
          <p:nvPr/>
        </p:nvSpPr>
        <p:spPr>
          <a:xfrm>
            <a:off x="13423900" y="1168400"/>
            <a:ext cx="558800" cy="558800"/>
          </a:xfrm>
          <a:prstGeom prst="ellipse">
            <a:avLst/>
          </a:prstGeom>
          <a:solidFill>
            <a:srgbClr val="0F2647"/>
          </a:solidFill>
          <a:ln/>
        </p:spPr>
      </p:sp>
      <p:sp>
        <p:nvSpPr>
          <p:cNvPr id="19" name="Text 17"/>
          <p:cNvSpPr/>
          <p:nvPr/>
        </p:nvSpPr>
        <p:spPr>
          <a:xfrm>
            <a:off x="13423900" y="1168400"/>
            <a:ext cx="558800" cy="558800"/>
          </a:xfrm>
          <a:prstGeom prst="rect">
            <a:avLst/>
          </a:prstGeom>
          <a:noFill/>
          <a:ln/>
        </p:spPr>
        <p:txBody>
          <a:bodyPr wrap="none" lIns="0" tIns="0" rIns="0" bIns="0" rtlCol="0" anchor="ctr"/>
          <a:lstStyle/>
          <a:p>
            <a:pPr algn="ctr">
              <a:lnSpc>
                <a:spcPct val="100000"/>
              </a:lnSpc>
            </a:pPr>
            <a:r>
              <a:rPr lang="en-US" sz="1800" b="1" dirty="0">
                <a:solidFill>
                  <a:srgbClr val="FFFFFF"/>
                </a:solidFill>
                <a:latin typeface="Sorts Mill Goudy" pitchFamily="34" charset="0"/>
                <a:ea typeface="Sorts Mill Goudy" pitchFamily="34" charset="-122"/>
                <a:cs typeface="Sorts Mill Goudy" pitchFamily="34" charset="-120"/>
              </a:rPr>
              <a:t>05</a:t>
            </a:r>
            <a:endParaRPr lang="en-US" sz="1600" dirty="0"/>
          </a:p>
        </p:txBody>
      </p:sp>
      <p:sp>
        <p:nvSpPr>
          <p:cNvPr id="20" name="Text 18"/>
          <p:cNvSpPr/>
          <p:nvPr/>
        </p:nvSpPr>
        <p:spPr>
          <a:xfrm>
            <a:off x="1181100" y="939800"/>
            <a:ext cx="1193800" cy="203200"/>
          </a:xfrm>
          <a:prstGeom prst="rect">
            <a:avLst/>
          </a:prstGeom>
          <a:noFill/>
          <a:ln/>
        </p:spPr>
        <p:txBody>
          <a:bodyPr wrap="none" lIns="0" tIns="0" rIns="0" bIns="0" rtlCol="0" anchor="ctr"/>
          <a:lstStyle/>
          <a:p>
            <a:pPr algn="ctr">
              <a:lnSpc>
                <a:spcPct val="100000"/>
              </a:lnSpc>
            </a:pPr>
            <a:r>
              <a:rPr lang="en-US" sz="1200" dirty="0">
                <a:solidFill>
                  <a:srgbClr val="1B3A6B"/>
                </a:solidFill>
                <a:latin typeface="Liter" pitchFamily="34" charset="0"/>
                <a:ea typeface="Liter" pitchFamily="34" charset="-122"/>
                <a:cs typeface="Liter" pitchFamily="34" charset="-120"/>
              </a:rPr>
              <a:t>Sources CSV</a:t>
            </a:r>
            <a:endParaRPr lang="en-US" sz="1600" dirty="0"/>
          </a:p>
        </p:txBody>
      </p:sp>
      <p:sp>
        <p:nvSpPr>
          <p:cNvPr id="21" name="Text 19"/>
          <p:cNvSpPr/>
          <p:nvPr/>
        </p:nvSpPr>
        <p:spPr>
          <a:xfrm>
            <a:off x="4102100" y="939800"/>
            <a:ext cx="1193800" cy="203200"/>
          </a:xfrm>
          <a:prstGeom prst="rect">
            <a:avLst/>
          </a:prstGeom>
          <a:noFill/>
          <a:ln/>
        </p:spPr>
        <p:txBody>
          <a:bodyPr wrap="none" lIns="0" tIns="0" rIns="0" bIns="0" rtlCol="0" anchor="ctr"/>
          <a:lstStyle/>
          <a:p>
            <a:pPr algn="ctr">
              <a:lnSpc>
                <a:spcPct val="100000"/>
              </a:lnSpc>
            </a:pPr>
            <a:r>
              <a:rPr lang="en-US" sz="1200" dirty="0">
                <a:solidFill>
                  <a:srgbClr val="1B3A6B"/>
                </a:solidFill>
                <a:latin typeface="Liter" pitchFamily="34" charset="0"/>
                <a:ea typeface="Liter" pitchFamily="34" charset="-122"/>
                <a:cs typeface="Liter" pitchFamily="34" charset="-120"/>
              </a:rPr>
              <a:t>Bronze</a:t>
            </a:r>
            <a:endParaRPr lang="en-US" sz="1600" dirty="0"/>
          </a:p>
        </p:txBody>
      </p:sp>
      <p:sp>
        <p:nvSpPr>
          <p:cNvPr id="22" name="Text 20"/>
          <p:cNvSpPr/>
          <p:nvPr/>
        </p:nvSpPr>
        <p:spPr>
          <a:xfrm>
            <a:off x="7023100" y="939800"/>
            <a:ext cx="1193800" cy="203200"/>
          </a:xfrm>
          <a:prstGeom prst="rect">
            <a:avLst/>
          </a:prstGeom>
          <a:noFill/>
          <a:ln/>
        </p:spPr>
        <p:txBody>
          <a:bodyPr wrap="none" lIns="0" tIns="0" rIns="0" bIns="0" rtlCol="0" anchor="ctr"/>
          <a:lstStyle/>
          <a:p>
            <a:pPr algn="ctr">
              <a:lnSpc>
                <a:spcPct val="100000"/>
              </a:lnSpc>
            </a:pPr>
            <a:r>
              <a:rPr lang="en-US" sz="1200" dirty="0">
                <a:solidFill>
                  <a:srgbClr val="C9963B"/>
                </a:solidFill>
                <a:latin typeface="Liter" pitchFamily="34" charset="0"/>
                <a:ea typeface="Liter" pitchFamily="34" charset="-122"/>
                <a:cs typeface="Liter" pitchFamily="34" charset="-120"/>
              </a:rPr>
              <a:t>Silver</a:t>
            </a:r>
            <a:endParaRPr lang="en-US" sz="1600" dirty="0"/>
          </a:p>
        </p:txBody>
      </p:sp>
      <p:sp>
        <p:nvSpPr>
          <p:cNvPr id="23" name="Text 21"/>
          <p:cNvSpPr/>
          <p:nvPr/>
        </p:nvSpPr>
        <p:spPr>
          <a:xfrm>
            <a:off x="9944100" y="939800"/>
            <a:ext cx="1193800" cy="203200"/>
          </a:xfrm>
          <a:prstGeom prst="rect">
            <a:avLst/>
          </a:prstGeom>
          <a:noFill/>
          <a:ln/>
        </p:spPr>
        <p:txBody>
          <a:bodyPr wrap="none" lIns="0" tIns="0" rIns="0" bIns="0" rtlCol="0" anchor="ctr"/>
          <a:lstStyle/>
          <a:p>
            <a:pPr algn="ctr">
              <a:lnSpc>
                <a:spcPct val="100000"/>
              </a:lnSpc>
            </a:pPr>
            <a:r>
              <a:rPr lang="en-US" sz="1200" dirty="0">
                <a:solidFill>
                  <a:srgbClr val="1B3A6B"/>
                </a:solidFill>
                <a:latin typeface="Liter" pitchFamily="34" charset="0"/>
                <a:ea typeface="Liter" pitchFamily="34" charset="-122"/>
                <a:cs typeface="Liter" pitchFamily="34" charset="-120"/>
              </a:rPr>
              <a:t>Gold</a:t>
            </a:r>
            <a:endParaRPr lang="en-US" sz="1600" dirty="0"/>
          </a:p>
        </p:txBody>
      </p:sp>
      <p:sp>
        <p:nvSpPr>
          <p:cNvPr id="24" name="Text 22"/>
          <p:cNvSpPr/>
          <p:nvPr/>
        </p:nvSpPr>
        <p:spPr>
          <a:xfrm>
            <a:off x="13106400" y="939800"/>
            <a:ext cx="1193800" cy="203200"/>
          </a:xfrm>
          <a:prstGeom prst="rect">
            <a:avLst/>
          </a:prstGeom>
          <a:noFill/>
          <a:ln/>
        </p:spPr>
        <p:txBody>
          <a:bodyPr wrap="none" lIns="0" tIns="0" rIns="0" bIns="0" rtlCol="0" anchor="ctr"/>
          <a:lstStyle/>
          <a:p>
            <a:pPr algn="ctr">
              <a:lnSpc>
                <a:spcPct val="100000"/>
              </a:lnSpc>
            </a:pPr>
            <a:r>
              <a:rPr lang="en-US" sz="1200" dirty="0">
                <a:solidFill>
                  <a:srgbClr val="0F2647"/>
                </a:solidFill>
                <a:latin typeface="Liter" pitchFamily="34" charset="0"/>
                <a:ea typeface="Liter" pitchFamily="34" charset="-122"/>
                <a:cs typeface="Liter" pitchFamily="34" charset="-120"/>
              </a:rPr>
              <a:t>Power BI</a:t>
            </a:r>
            <a:endParaRPr lang="en-US" sz="1600" dirty="0"/>
          </a:p>
        </p:txBody>
      </p:sp>
      <p:sp>
        <p:nvSpPr>
          <p:cNvPr id="25" name="Shape 23"/>
          <p:cNvSpPr/>
          <p:nvPr/>
        </p:nvSpPr>
        <p:spPr>
          <a:xfrm>
            <a:off x="635000" y="1905000"/>
            <a:ext cx="7366000" cy="279400"/>
          </a:xfrm>
          <a:prstGeom prst="rect">
            <a:avLst/>
          </a:prstGeom>
          <a:solidFill>
            <a:srgbClr val="EBF0F7"/>
          </a:solidFill>
          <a:ln/>
        </p:spPr>
      </p:sp>
      <p:sp>
        <p:nvSpPr>
          <p:cNvPr id="26" name="Shape 24"/>
          <p:cNvSpPr/>
          <p:nvPr/>
        </p:nvSpPr>
        <p:spPr>
          <a:xfrm>
            <a:off x="635000" y="1905000"/>
            <a:ext cx="38100" cy="279400"/>
          </a:xfrm>
          <a:prstGeom prst="rect">
            <a:avLst/>
          </a:prstGeom>
          <a:solidFill>
            <a:srgbClr val="C9963B"/>
          </a:solidFill>
          <a:ln/>
        </p:spPr>
      </p:sp>
      <p:sp>
        <p:nvSpPr>
          <p:cNvPr id="27" name="Text 25"/>
          <p:cNvSpPr/>
          <p:nvPr/>
        </p:nvSpPr>
        <p:spPr>
          <a:xfrm>
            <a:off x="736600" y="1905000"/>
            <a:ext cx="7239000" cy="279400"/>
          </a:xfrm>
          <a:prstGeom prst="rect">
            <a:avLst/>
          </a:prstGeom>
          <a:noFill/>
          <a:ln/>
        </p:spPr>
        <p:txBody>
          <a:bodyPr wrap="none" lIns="0" tIns="0" rIns="0" bIns="0" rtlCol="0" anchor="ctr"/>
          <a:lstStyle/>
          <a:p>
            <a:pPr>
              <a:lnSpc>
                <a:spcPct val="100000"/>
              </a:lnSpc>
            </a:pPr>
            <a:r>
              <a:rPr lang="en-US" sz="1300" b="1" dirty="0">
                <a:solidFill>
                  <a:srgbClr val="0F2647"/>
                </a:solidFill>
                <a:latin typeface="Liter" pitchFamily="34" charset="0"/>
                <a:ea typeface="Liter" pitchFamily="34" charset="-122"/>
                <a:cs typeface="Liter" pitchFamily="34" charset="-120"/>
              </a:rPr>
              <a:t>Sources de données (5 fichiers CSV)</a:t>
            </a:r>
            <a:endParaRPr lang="en-US" sz="1600" dirty="0"/>
          </a:p>
        </p:txBody>
      </p:sp>
      <p:graphicFrame>
        <p:nvGraphicFramePr>
          <p:cNvPr id="28" name="Table 0"/>
          <p:cNvGraphicFramePr>
            <a:graphicFrameLocks noGrp="1"/>
          </p:cNvGraphicFramePr>
          <p:nvPr>
            <p:extLst>
              <p:ext uri="{D42A27DB-BD31-4B8C-83A1-F6EECF244321}">
                <p14:modId xmlns:p14="http://schemas.microsoft.com/office/powerpoint/2010/main" val="2499471512"/>
              </p:ext>
            </p:extLst>
          </p:nvPr>
        </p:nvGraphicFramePr>
        <p:xfrm>
          <a:off x="635000" y="2235200"/>
          <a:ext cx="7366000" cy="2794001"/>
        </p:xfrm>
        <a:graphic>
          <a:graphicData uri="http://schemas.openxmlformats.org/drawingml/2006/table">
            <a:tbl>
              <a:tblPr/>
              <a:tblGrid>
                <a:gridCol w="2209800">
                  <a:extLst>
                    <a:ext uri="{9D8B030D-6E8A-4147-A177-3AD203B41FA5}">
                      <a16:colId xmlns:a16="http://schemas.microsoft.com/office/drawing/2014/main" val="20000"/>
                    </a:ext>
                  </a:extLst>
                </a:gridCol>
                <a:gridCol w="3314700">
                  <a:extLst>
                    <a:ext uri="{9D8B030D-6E8A-4147-A177-3AD203B41FA5}">
                      <a16:colId xmlns:a16="http://schemas.microsoft.com/office/drawing/2014/main" val="20001"/>
                    </a:ext>
                  </a:extLst>
                </a:gridCol>
                <a:gridCol w="1841500">
                  <a:extLst>
                    <a:ext uri="{9D8B030D-6E8A-4147-A177-3AD203B41FA5}">
                      <a16:colId xmlns:a16="http://schemas.microsoft.com/office/drawing/2014/main" val="20002"/>
                    </a:ext>
                  </a:extLst>
                </a:gridCol>
              </a:tblGrid>
              <a:tr h="467774">
                <a:tc>
                  <a:txBody>
                    <a:bodyPr/>
                    <a:lstStyle/>
                    <a:p>
                      <a:pPr algn="l"/>
                      <a:r>
                        <a:rPr lang="en-US" sz="1300" b="1" u="none" dirty="0">
                          <a:solidFill>
                            <a:srgbClr val="FFFFFF"/>
                          </a:solidFill>
                          <a:latin typeface="Liter" pitchFamily="34" charset="0"/>
                          <a:ea typeface="Liter" pitchFamily="34" charset="-122"/>
                          <a:cs typeface="Liter" pitchFamily="34" charset="-120"/>
                        </a:rPr>
                        <a:t>Fichier</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1B3A6B"/>
                    </a:solidFill>
                  </a:tcPr>
                </a:tc>
                <a:tc>
                  <a:txBody>
                    <a:bodyPr/>
                    <a:lstStyle/>
                    <a:p>
                      <a:pPr algn="l"/>
                      <a:r>
                        <a:rPr lang="en-US" sz="1300" b="1" u="none" dirty="0">
                          <a:solidFill>
                            <a:srgbClr val="FFFFFF"/>
                          </a:solidFill>
                          <a:latin typeface="Liter" pitchFamily="34" charset="0"/>
                          <a:ea typeface="Liter" pitchFamily="34" charset="-122"/>
                          <a:cs typeface="Liter" pitchFamily="34" charset="-120"/>
                        </a:rPr>
                        <a:t>Description</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1B3A6B"/>
                    </a:solidFill>
                  </a:tcPr>
                </a:tc>
                <a:tc>
                  <a:txBody>
                    <a:bodyPr/>
                    <a:lstStyle/>
                    <a:p>
                      <a:pPr algn="l"/>
                      <a:r>
                        <a:rPr lang="en-US" sz="1300" b="1" u="none" dirty="0">
                          <a:solidFill>
                            <a:srgbClr val="FFFFFF"/>
                          </a:solidFill>
                          <a:latin typeface="Liter" pitchFamily="34" charset="0"/>
                          <a:ea typeface="Liter" pitchFamily="34" charset="-122"/>
                          <a:cs typeface="Liter" pitchFamily="34" charset="-120"/>
                        </a:rPr>
                        <a:t>Enregistrements</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467774">
                <a:tc>
                  <a:txBody>
                    <a:bodyPr/>
                    <a:lstStyle/>
                    <a:p>
                      <a:pPr algn="l"/>
                      <a:r>
                        <a:rPr lang="en-US" sz="1300" u="none" dirty="0">
                          <a:solidFill>
                            <a:srgbClr val="2D2D2D"/>
                          </a:solidFill>
                          <a:latin typeface="Liter" pitchFamily="34" charset="0"/>
                          <a:ea typeface="Liter" pitchFamily="34" charset="-122"/>
                          <a:cs typeface="Liter" pitchFamily="34" charset="-120"/>
                        </a:rPr>
                        <a:t>account.csv</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tc>
                  <a:txBody>
                    <a:bodyPr/>
                    <a:lstStyle/>
                    <a:p>
                      <a:pPr algn="l"/>
                      <a:r>
                        <a:rPr lang="en-US" sz="1300" u="none" dirty="0">
                          <a:solidFill>
                            <a:srgbClr val="2D2D2D"/>
                          </a:solidFill>
                          <a:latin typeface="Liter" pitchFamily="34" charset="0"/>
                          <a:ea typeface="Liter" pitchFamily="34" charset="-122"/>
                          <a:cs typeface="Liter" pitchFamily="34" charset="-120"/>
                        </a:rPr>
                        <a:t>Plan comptable (numéro, nom, type)</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tc>
                  <a:txBody>
                    <a:bodyPr/>
                    <a:lstStyle/>
                    <a:p>
                      <a:pPr algn="l"/>
                      <a:r>
                        <a:rPr lang="en-US" sz="1300" u="none" dirty="0">
                          <a:solidFill>
                            <a:srgbClr val="2D2D2D"/>
                          </a:solidFill>
                          <a:latin typeface="Liter" pitchFamily="34" charset="0"/>
                          <a:ea typeface="Liter" pitchFamily="34" charset="-122"/>
                          <a:cs typeface="Liter" pitchFamily="34" charset="-120"/>
                        </a:rPr>
                        <a:t>7</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7774">
                <a:tc>
                  <a:txBody>
                    <a:bodyPr/>
                    <a:lstStyle/>
                    <a:p>
                      <a:pPr algn="l"/>
                      <a:r>
                        <a:rPr lang="en-US" sz="1300" u="none" dirty="0">
                          <a:solidFill>
                            <a:srgbClr val="2D2D2D"/>
                          </a:solidFill>
                          <a:latin typeface="Liter" pitchFamily="34" charset="0"/>
                          <a:ea typeface="Liter" pitchFamily="34" charset="-122"/>
                          <a:cs typeface="Liter" pitchFamily="34" charset="-120"/>
                        </a:rPr>
                        <a:t>account_mapping.csv</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EBF0F7"/>
                    </a:solidFill>
                  </a:tcPr>
                </a:tc>
                <a:tc>
                  <a:txBody>
                    <a:bodyPr/>
                    <a:lstStyle/>
                    <a:p>
                      <a:pPr algn="l"/>
                      <a:r>
                        <a:rPr lang="en-US" sz="1300" u="none" dirty="0">
                          <a:solidFill>
                            <a:srgbClr val="2D2D2D"/>
                          </a:solidFill>
                          <a:latin typeface="Liter" pitchFamily="34" charset="0"/>
                          <a:ea typeface="Liter" pitchFamily="34" charset="-122"/>
                          <a:cs typeface="Liter" pitchFamily="34" charset="-120"/>
                        </a:rPr>
                        <a:t>Mapping comptes → états financiers</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EBF0F7"/>
                    </a:solidFill>
                  </a:tcPr>
                </a:tc>
                <a:tc>
                  <a:txBody>
                    <a:bodyPr/>
                    <a:lstStyle/>
                    <a:p>
                      <a:pPr algn="l"/>
                      <a:r>
                        <a:rPr lang="en-US" sz="1300" u="none" dirty="0">
                          <a:solidFill>
                            <a:srgbClr val="2D2D2D"/>
                          </a:solidFill>
                          <a:latin typeface="Liter" pitchFamily="34" charset="0"/>
                          <a:ea typeface="Liter" pitchFamily="34" charset="-122"/>
                          <a:cs typeface="Liter" pitchFamily="34" charset="-120"/>
                        </a:rPr>
                        <a:t>10</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EBF0F7"/>
                    </a:solidFill>
                  </a:tcPr>
                </a:tc>
                <a:extLst>
                  <a:ext uri="{0D108BD9-81ED-4DB2-BD59-A6C34878D82A}">
                    <a16:rowId xmlns:a16="http://schemas.microsoft.com/office/drawing/2014/main" val="10002"/>
                  </a:ext>
                </a:extLst>
              </a:tr>
              <a:tr h="467774">
                <a:tc>
                  <a:txBody>
                    <a:bodyPr/>
                    <a:lstStyle/>
                    <a:p>
                      <a:pPr algn="l"/>
                      <a:r>
                        <a:rPr lang="en-US" sz="1300" u="none" dirty="0">
                          <a:solidFill>
                            <a:srgbClr val="2D2D2D"/>
                          </a:solidFill>
                          <a:latin typeface="Liter" pitchFamily="34" charset="0"/>
                          <a:ea typeface="Liter" pitchFamily="34" charset="-122"/>
                          <a:cs typeface="Liter" pitchFamily="34" charset="-120"/>
                        </a:rPr>
                        <a:t>Ftransaction.csv</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tc>
                  <a:txBody>
                    <a:bodyPr/>
                    <a:lstStyle/>
                    <a:p>
                      <a:pPr algn="l"/>
                      <a:r>
                        <a:rPr lang="en-US" sz="1300" u="none" dirty="0">
                          <a:solidFill>
                            <a:srgbClr val="2D2D2D"/>
                          </a:solidFill>
                          <a:latin typeface="Liter" pitchFamily="34" charset="0"/>
                          <a:ea typeface="Liter" pitchFamily="34" charset="-122"/>
                          <a:cs typeface="Liter" pitchFamily="34" charset="-120"/>
                        </a:rPr>
                        <a:t>Transactions GL (20000 lignes)</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tc>
                  <a:txBody>
                    <a:bodyPr/>
                    <a:lstStyle/>
                    <a:p>
                      <a:pPr algn="l"/>
                      <a:r>
                        <a:rPr lang="en-US" sz="1300" u="none" dirty="0">
                          <a:solidFill>
                            <a:srgbClr val="C9963B"/>
                          </a:solidFill>
                          <a:latin typeface="Liter" pitchFamily="34" charset="0"/>
                          <a:ea typeface="Liter" charset="0"/>
                          <a:cs typeface="Liter" charset="0"/>
                        </a:rPr>
                        <a:t>20000</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7774">
                <a:tc>
                  <a:txBody>
                    <a:bodyPr/>
                    <a:lstStyle/>
                    <a:p>
                      <a:pPr algn="l"/>
                      <a:r>
                        <a:rPr lang="en-US" sz="1300" u="none" dirty="0">
                          <a:solidFill>
                            <a:srgbClr val="2D2D2D"/>
                          </a:solidFill>
                          <a:latin typeface="Liter" pitchFamily="34" charset="0"/>
                          <a:ea typeface="Liter" pitchFamily="34" charset="-122"/>
                          <a:cs typeface="Liter" pitchFamily="34" charset="-120"/>
                        </a:rPr>
                        <a:t>store.csv</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EBF0F7"/>
                    </a:solidFill>
                  </a:tcPr>
                </a:tc>
                <a:tc>
                  <a:txBody>
                    <a:bodyPr/>
                    <a:lstStyle/>
                    <a:p>
                      <a:pPr algn="l"/>
                      <a:r>
                        <a:rPr lang="en-US" sz="1300" u="none" dirty="0">
                          <a:solidFill>
                            <a:srgbClr val="2D2D2D"/>
                          </a:solidFill>
                          <a:latin typeface="Liter" pitchFamily="34" charset="0"/>
                          <a:ea typeface="Liter" pitchFamily="34" charset="-122"/>
                          <a:cs typeface="Liter" pitchFamily="34" charset="-120"/>
                        </a:rPr>
                        <a:t>Magasins (pays, région)</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EBF0F7"/>
                    </a:solidFill>
                  </a:tcPr>
                </a:tc>
                <a:tc>
                  <a:txBody>
                    <a:bodyPr/>
                    <a:lstStyle/>
                    <a:p>
                      <a:pPr algn="l"/>
                      <a:r>
                        <a:rPr lang="en-US" sz="1300" u="none" dirty="0">
                          <a:solidFill>
                            <a:srgbClr val="2D2D2D"/>
                          </a:solidFill>
                          <a:latin typeface="Liter" pitchFamily="34" charset="0"/>
                          <a:ea typeface="Liter" pitchFamily="34" charset="-122"/>
                          <a:cs typeface="Liter" pitchFamily="34" charset="-120"/>
                        </a:rPr>
                        <a:t>8</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EBF0F7"/>
                    </a:solidFill>
                  </a:tcPr>
                </a:tc>
                <a:extLst>
                  <a:ext uri="{0D108BD9-81ED-4DB2-BD59-A6C34878D82A}">
                    <a16:rowId xmlns:a16="http://schemas.microsoft.com/office/drawing/2014/main" val="10004"/>
                  </a:ext>
                </a:extLst>
              </a:tr>
              <a:tr h="455131">
                <a:tc>
                  <a:txBody>
                    <a:bodyPr/>
                    <a:lstStyle/>
                    <a:p>
                      <a:pPr algn="l"/>
                      <a:r>
                        <a:rPr lang="en-US" sz="1300" u="none" dirty="0">
                          <a:solidFill>
                            <a:srgbClr val="2D2D2D"/>
                          </a:solidFill>
                          <a:latin typeface="Liter" pitchFamily="34" charset="0"/>
                          <a:ea typeface="Liter" pitchFamily="34" charset="-122"/>
                          <a:cs typeface="Liter" pitchFamily="34" charset="-120"/>
                        </a:rPr>
                        <a:t>store_master.csv</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tc>
                  <a:txBody>
                    <a:bodyPr/>
                    <a:lstStyle/>
                    <a:p>
                      <a:pPr algn="l"/>
                      <a:r>
                        <a:rPr lang="en-US" sz="1300" u="none" dirty="0">
                          <a:solidFill>
                            <a:srgbClr val="2D2D2D"/>
                          </a:solidFill>
                          <a:latin typeface="Liter" pitchFamily="34" charset="0"/>
                          <a:ea typeface="Liter" pitchFamily="34" charset="-122"/>
                          <a:cs typeface="Liter" pitchFamily="34" charset="-120"/>
                        </a:rPr>
                        <a:t>Détails magasins (nom, type)</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tc>
                  <a:txBody>
                    <a:bodyPr/>
                    <a:lstStyle/>
                    <a:p>
                      <a:pPr algn="l"/>
                      <a:r>
                        <a:rPr lang="en-US" sz="1300" u="none" dirty="0">
                          <a:solidFill>
                            <a:srgbClr val="2D2D2D"/>
                          </a:solidFill>
                          <a:latin typeface="Liter" pitchFamily="34" charset="0"/>
                          <a:ea typeface="Liter" pitchFamily="34" charset="-122"/>
                          <a:cs typeface="Liter" pitchFamily="34" charset="-120"/>
                        </a:rPr>
                        <a:t>8</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9" name="Shape 26"/>
          <p:cNvSpPr/>
          <p:nvPr/>
        </p:nvSpPr>
        <p:spPr>
          <a:xfrm>
            <a:off x="8255000" y="1905000"/>
            <a:ext cx="7366000" cy="279400"/>
          </a:xfrm>
          <a:prstGeom prst="rect">
            <a:avLst/>
          </a:prstGeom>
          <a:solidFill>
            <a:srgbClr val="EBF0F7"/>
          </a:solidFill>
          <a:ln/>
        </p:spPr>
      </p:sp>
      <p:sp>
        <p:nvSpPr>
          <p:cNvPr id="30" name="Shape 27"/>
          <p:cNvSpPr/>
          <p:nvPr/>
        </p:nvSpPr>
        <p:spPr>
          <a:xfrm>
            <a:off x="8255000" y="1905000"/>
            <a:ext cx="38100" cy="279400"/>
          </a:xfrm>
          <a:prstGeom prst="rect">
            <a:avLst/>
          </a:prstGeom>
          <a:solidFill>
            <a:srgbClr val="C9963B"/>
          </a:solidFill>
          <a:ln/>
        </p:spPr>
      </p:sp>
      <p:sp>
        <p:nvSpPr>
          <p:cNvPr id="31" name="Text 28"/>
          <p:cNvSpPr/>
          <p:nvPr/>
        </p:nvSpPr>
        <p:spPr>
          <a:xfrm>
            <a:off x="8356600" y="1905000"/>
            <a:ext cx="7239000" cy="279400"/>
          </a:xfrm>
          <a:prstGeom prst="rect">
            <a:avLst/>
          </a:prstGeom>
          <a:noFill/>
          <a:ln/>
        </p:spPr>
        <p:txBody>
          <a:bodyPr wrap="none" lIns="0" tIns="0" rIns="0" bIns="0" rtlCol="0" anchor="ctr"/>
          <a:lstStyle/>
          <a:p>
            <a:pPr>
              <a:lnSpc>
                <a:spcPct val="100000"/>
              </a:lnSpc>
            </a:pPr>
            <a:r>
              <a:rPr lang="en-US" sz="1300" b="1" dirty="0">
                <a:solidFill>
                  <a:srgbClr val="0F2647"/>
                </a:solidFill>
                <a:latin typeface="Liter" pitchFamily="34" charset="0"/>
                <a:ea typeface="Liter" pitchFamily="34" charset="-122"/>
                <a:cs typeface="Liter" pitchFamily="34" charset="-120"/>
              </a:rPr>
              <a:t>Objectifs pédagogiques du projet</a:t>
            </a:r>
            <a:endParaRPr lang="en-US" sz="1600" dirty="0"/>
          </a:p>
        </p:txBody>
      </p:sp>
      <p:sp>
        <p:nvSpPr>
          <p:cNvPr id="32" name="Text 29"/>
          <p:cNvSpPr/>
          <p:nvPr/>
        </p:nvSpPr>
        <p:spPr>
          <a:xfrm>
            <a:off x="8356600" y="2286000"/>
            <a:ext cx="7137400" cy="2844800"/>
          </a:xfrm>
          <a:prstGeom prst="rect">
            <a:avLst/>
          </a:prstGeom>
          <a:noFill/>
          <a:ln/>
        </p:spPr>
        <p:txBody>
          <a:bodyPr wrap="square" lIns="0" tIns="0" rIns="0" bIns="0" rtlCol="0" anchor="ctr"/>
          <a:lstStyle/>
          <a:p>
            <a:pPr>
              <a:lnSpc>
                <a:spcPct val="150000"/>
              </a:lnSpc>
            </a:pPr>
            <a:r>
              <a:rPr lang="en-US" sz="1400" b="1" dirty="0">
                <a:solidFill>
                  <a:srgbClr val="2D2D2D"/>
                </a:solidFill>
                <a:latin typeface="Liter" pitchFamily="34" charset="0"/>
                <a:ea typeface="Liter" pitchFamily="34" charset="-122"/>
                <a:cs typeface="Liter" pitchFamily="34" charset="-120"/>
              </a:rPr>
              <a:t>1. Architecture Data Warehouse</a:t>
            </a:r>
            <a:endParaRPr lang="en-US" sz="1600" dirty="0"/>
          </a:p>
          <a:p>
            <a:pPr>
              <a:lnSpc>
                <a:spcPct val="150000"/>
              </a:lnSpc>
            </a:pPr>
            <a:r>
              <a:rPr lang="en-US" sz="1300" dirty="0">
                <a:solidFill>
                  <a:srgbClr val="555555"/>
                </a:solidFill>
                <a:latin typeface="Liter" pitchFamily="34" charset="0"/>
                <a:ea typeface="Liter" pitchFamily="34" charset="-122"/>
                <a:cs typeface="Liter" pitchFamily="34" charset="-120"/>
              </a:rPr>
              <a:t>■ Architecture en 3 couches (Bronze / Silver / Gold)</a:t>
            </a:r>
            <a:endParaRPr lang="en-US" sz="1600" dirty="0"/>
          </a:p>
          <a:p>
            <a:pPr>
              <a:lnSpc>
                <a:spcPct val="150000"/>
              </a:lnSpc>
              <a:spcBef>
                <a:spcPts val="400"/>
              </a:spcBef>
            </a:pPr>
            <a:r>
              <a:rPr lang="en-US" sz="1400" b="1" dirty="0">
                <a:solidFill>
                  <a:srgbClr val="2D2D2D"/>
                </a:solidFill>
                <a:latin typeface="Liter" pitchFamily="34" charset="0"/>
                <a:ea typeface="Liter" pitchFamily="34" charset="-122"/>
                <a:cs typeface="Liter" pitchFamily="34" charset="-120"/>
              </a:rPr>
              <a:t>2. Pipeline ETL complet</a:t>
            </a:r>
            <a:endParaRPr lang="en-US" sz="1600" dirty="0"/>
          </a:p>
          <a:p>
            <a:pPr>
              <a:lnSpc>
                <a:spcPct val="150000"/>
              </a:lnSpc>
            </a:pPr>
            <a:r>
              <a:rPr lang="en-US" sz="1300" dirty="0">
                <a:solidFill>
                  <a:srgbClr val="555555"/>
                </a:solidFill>
                <a:latin typeface="Liter" pitchFamily="34" charset="0"/>
                <a:ea typeface="Liter" pitchFamily="34" charset="-122"/>
                <a:cs typeface="Liter" pitchFamily="34" charset="-120"/>
              </a:rPr>
              <a:t>■ Ingestion CSV → Nettoyage → Modélisation analytique</a:t>
            </a:r>
            <a:endParaRPr lang="en-US" sz="1600" dirty="0"/>
          </a:p>
          <a:p>
            <a:pPr>
              <a:lnSpc>
                <a:spcPct val="150000"/>
              </a:lnSpc>
              <a:spcBef>
                <a:spcPts val="400"/>
              </a:spcBef>
            </a:pPr>
            <a:r>
              <a:rPr lang="en-US" sz="1400" b="1" dirty="0">
                <a:solidFill>
                  <a:srgbClr val="2D2D2D"/>
                </a:solidFill>
                <a:latin typeface="Liter" pitchFamily="34" charset="0"/>
                <a:ea typeface="Liter" pitchFamily="34" charset="-122"/>
                <a:cs typeface="Liter" pitchFamily="34" charset="-120"/>
              </a:rPr>
              <a:t>3. Modélisation Star Schema</a:t>
            </a:r>
            <a:endParaRPr lang="en-US" sz="1600" dirty="0"/>
          </a:p>
          <a:p>
            <a:pPr>
              <a:lnSpc>
                <a:spcPct val="150000"/>
              </a:lnSpc>
            </a:pPr>
            <a:r>
              <a:rPr lang="en-US" sz="1300" dirty="0">
                <a:solidFill>
                  <a:srgbClr val="555555"/>
                </a:solidFill>
                <a:latin typeface="Liter" pitchFamily="34" charset="0"/>
                <a:ea typeface="Liter" pitchFamily="34" charset="-122"/>
                <a:cs typeface="Liter" pitchFamily="34" charset="-120"/>
              </a:rPr>
              <a:t>■ Dimensions + Table de faits pour analyse financière</a:t>
            </a:r>
            <a:endParaRPr lang="en-US" sz="1600" dirty="0"/>
          </a:p>
          <a:p>
            <a:pPr>
              <a:lnSpc>
                <a:spcPct val="150000"/>
              </a:lnSpc>
              <a:spcBef>
                <a:spcPts val="400"/>
              </a:spcBef>
            </a:pPr>
            <a:r>
              <a:rPr lang="en-US" sz="1400" b="1" dirty="0">
                <a:solidFill>
                  <a:srgbClr val="2D2D2D"/>
                </a:solidFill>
                <a:latin typeface="Liter" pitchFamily="34" charset="0"/>
                <a:ea typeface="Liter" pitchFamily="34" charset="-122"/>
                <a:cs typeface="Liter" pitchFamily="34" charset="-120"/>
              </a:rPr>
              <a:t>4. Contrôle qualité des données</a:t>
            </a:r>
            <a:endParaRPr lang="en-US" sz="1600" dirty="0"/>
          </a:p>
          <a:p>
            <a:pPr>
              <a:lnSpc>
                <a:spcPct val="150000"/>
              </a:lnSpc>
            </a:pPr>
            <a:r>
              <a:rPr lang="en-US" sz="1300" dirty="0">
                <a:solidFill>
                  <a:srgbClr val="555555"/>
                </a:solidFill>
                <a:latin typeface="Liter" pitchFamily="34" charset="0"/>
                <a:ea typeface="Liter" pitchFamily="34" charset="-122"/>
                <a:cs typeface="Liter" pitchFamily="34" charset="-120"/>
              </a:rPr>
              <a:t>■ Vérifier cohérence à chaque étape du pipeline</a:t>
            </a:r>
            <a:endParaRPr lang="en-US" sz="1600" dirty="0"/>
          </a:p>
        </p:txBody>
      </p:sp>
      <p:sp>
        <p:nvSpPr>
          <p:cNvPr id="33" name="Shape 30"/>
          <p:cNvSpPr/>
          <p:nvPr/>
        </p:nvSpPr>
        <p:spPr>
          <a:xfrm>
            <a:off x="635000" y="5207000"/>
            <a:ext cx="14986000" cy="2921000"/>
          </a:xfrm>
          <a:prstGeom prst="rect">
            <a:avLst/>
          </a:prstGeom>
          <a:solidFill>
            <a:srgbClr val="EBF0F7"/>
          </a:solidFill>
          <a:ln/>
        </p:spPr>
      </p:sp>
      <p:sp>
        <p:nvSpPr>
          <p:cNvPr id="34" name="Shape 31"/>
          <p:cNvSpPr/>
          <p:nvPr/>
        </p:nvSpPr>
        <p:spPr>
          <a:xfrm>
            <a:off x="635000" y="5207000"/>
            <a:ext cx="38100" cy="2921000"/>
          </a:xfrm>
          <a:prstGeom prst="rect">
            <a:avLst/>
          </a:prstGeom>
          <a:solidFill>
            <a:srgbClr val="1B3A6B"/>
          </a:solidFill>
          <a:ln/>
        </p:spPr>
      </p:sp>
      <p:sp>
        <p:nvSpPr>
          <p:cNvPr id="35" name="Text 32"/>
          <p:cNvSpPr/>
          <p:nvPr/>
        </p:nvSpPr>
        <p:spPr>
          <a:xfrm>
            <a:off x="863600" y="5334000"/>
            <a:ext cx="5080000" cy="304800"/>
          </a:xfrm>
          <a:prstGeom prst="rect">
            <a:avLst/>
          </a:prstGeom>
          <a:noFill/>
          <a:ln/>
        </p:spPr>
        <p:txBody>
          <a:bodyPr wrap="none" lIns="0" tIns="0" rIns="0" bIns="0" rtlCol="0" anchor="ctr"/>
          <a:lstStyle/>
          <a:p>
            <a:pPr>
              <a:lnSpc>
                <a:spcPct val="100000"/>
              </a:lnSpc>
            </a:pPr>
            <a:r>
              <a:rPr lang="en-US" sz="1500" b="1" dirty="0">
                <a:solidFill>
                  <a:srgbClr val="1B3A6B"/>
                </a:solidFill>
                <a:latin typeface="Sorts Mill Goudy" pitchFamily="34" charset="0"/>
                <a:ea typeface="Sorts Mill Goudy" pitchFamily="34" charset="-122"/>
                <a:cs typeface="Sorts Mill Goudy" pitchFamily="34" charset="-120"/>
              </a:rPr>
              <a:t>Environnement technique et outils</a:t>
            </a:r>
            <a:endParaRPr lang="en-US" sz="1600" dirty="0"/>
          </a:p>
        </p:txBody>
      </p:sp>
      <p:sp>
        <p:nvSpPr>
          <p:cNvPr id="36" name="Shape 33"/>
          <p:cNvSpPr/>
          <p:nvPr/>
        </p:nvSpPr>
        <p:spPr>
          <a:xfrm>
            <a:off x="863600" y="5740400"/>
            <a:ext cx="4572000" cy="1016000"/>
          </a:xfrm>
          <a:prstGeom prst="rect">
            <a:avLst/>
          </a:prstGeom>
          <a:solidFill>
            <a:srgbClr val="FFFFFF"/>
          </a:solidFill>
          <a:ln/>
        </p:spPr>
      </p:sp>
      <p:sp>
        <p:nvSpPr>
          <p:cNvPr id="37" name="Shape 34"/>
          <p:cNvSpPr/>
          <p:nvPr/>
        </p:nvSpPr>
        <p:spPr>
          <a:xfrm>
            <a:off x="863600" y="5740400"/>
            <a:ext cx="4572000" cy="38100"/>
          </a:xfrm>
          <a:prstGeom prst="rect">
            <a:avLst/>
          </a:prstGeom>
          <a:solidFill>
            <a:srgbClr val="1B3A6B"/>
          </a:solidFill>
          <a:ln/>
        </p:spPr>
      </p:sp>
      <p:sp>
        <p:nvSpPr>
          <p:cNvPr id="38" name="Text 35"/>
          <p:cNvSpPr/>
          <p:nvPr/>
        </p:nvSpPr>
        <p:spPr>
          <a:xfrm>
            <a:off x="990600" y="5842000"/>
            <a:ext cx="4318000" cy="279400"/>
          </a:xfrm>
          <a:prstGeom prst="rect">
            <a:avLst/>
          </a:prstGeom>
          <a:noFill/>
          <a:ln/>
        </p:spPr>
        <p:txBody>
          <a:bodyPr wrap="none" lIns="0" tIns="0" rIns="0" bIns="0" rtlCol="0" anchor="ctr"/>
          <a:lstStyle/>
          <a:p>
            <a:pPr>
              <a:lnSpc>
                <a:spcPct val="100000"/>
              </a:lnSpc>
            </a:pPr>
            <a:r>
              <a:rPr lang="en-US" sz="1400" b="1" dirty="0">
                <a:solidFill>
                  <a:srgbClr val="1B3A6B"/>
                </a:solidFill>
                <a:latin typeface="Liter" pitchFamily="34" charset="0"/>
                <a:ea typeface="Liter" pitchFamily="34" charset="-122"/>
                <a:cs typeface="Liter" pitchFamily="34" charset="-120"/>
              </a:rPr>
              <a:t>SQL Server Management Studio</a:t>
            </a:r>
            <a:endParaRPr lang="en-US" sz="1600" dirty="0"/>
          </a:p>
        </p:txBody>
      </p:sp>
      <p:sp>
        <p:nvSpPr>
          <p:cNvPr id="39" name="Text 36"/>
          <p:cNvSpPr/>
          <p:nvPr/>
        </p:nvSpPr>
        <p:spPr>
          <a:xfrm>
            <a:off x="990600" y="6146800"/>
            <a:ext cx="4318000" cy="508000"/>
          </a:xfrm>
          <a:prstGeom prst="rect">
            <a:avLst/>
          </a:prstGeom>
          <a:noFill/>
          <a:ln/>
        </p:spPr>
        <p:txBody>
          <a:bodyPr wrap="square" lIns="0" tIns="0" rIns="0" bIns="0" rtlCol="0" anchor="ctr"/>
          <a:lstStyle/>
          <a:p>
            <a:pPr>
              <a:lnSpc>
                <a:spcPct val="140000"/>
              </a:lnSpc>
            </a:pPr>
            <a:r>
              <a:rPr lang="en-US" sz="1300" dirty="0">
                <a:solidFill>
                  <a:srgbClr val="555555"/>
                </a:solidFill>
                <a:latin typeface="Liter" pitchFamily="34" charset="0"/>
                <a:ea typeface="Liter" pitchFamily="34" charset="-122"/>
                <a:cs typeface="Liter" pitchFamily="34" charset="-120"/>
              </a:rPr>
              <a:t>SSMS · T-SQL · BULK INSERT · CREATE SCHEMA</a:t>
            </a:r>
            <a:endParaRPr lang="en-US" sz="1600" dirty="0"/>
          </a:p>
        </p:txBody>
      </p:sp>
      <p:sp>
        <p:nvSpPr>
          <p:cNvPr id="40" name="Shape 37"/>
          <p:cNvSpPr/>
          <p:nvPr/>
        </p:nvSpPr>
        <p:spPr>
          <a:xfrm>
            <a:off x="5638800" y="5740400"/>
            <a:ext cx="4572000" cy="1016000"/>
          </a:xfrm>
          <a:prstGeom prst="rect">
            <a:avLst/>
          </a:prstGeom>
          <a:solidFill>
            <a:srgbClr val="FFFFFF"/>
          </a:solidFill>
          <a:ln/>
        </p:spPr>
      </p:sp>
      <p:sp>
        <p:nvSpPr>
          <p:cNvPr id="41" name="Shape 38"/>
          <p:cNvSpPr/>
          <p:nvPr/>
        </p:nvSpPr>
        <p:spPr>
          <a:xfrm>
            <a:off x="5638800" y="5740400"/>
            <a:ext cx="4572000" cy="38100"/>
          </a:xfrm>
          <a:prstGeom prst="rect">
            <a:avLst/>
          </a:prstGeom>
          <a:solidFill>
            <a:srgbClr val="C9963B"/>
          </a:solidFill>
          <a:ln/>
        </p:spPr>
      </p:sp>
      <p:sp>
        <p:nvSpPr>
          <p:cNvPr id="42" name="Text 39"/>
          <p:cNvSpPr/>
          <p:nvPr/>
        </p:nvSpPr>
        <p:spPr>
          <a:xfrm>
            <a:off x="5765800" y="5842000"/>
            <a:ext cx="4318000" cy="279400"/>
          </a:xfrm>
          <a:prstGeom prst="rect">
            <a:avLst/>
          </a:prstGeom>
          <a:noFill/>
          <a:ln/>
        </p:spPr>
        <p:txBody>
          <a:bodyPr wrap="none" lIns="0" tIns="0" rIns="0" bIns="0" rtlCol="0" anchor="ctr"/>
          <a:lstStyle/>
          <a:p>
            <a:pPr>
              <a:lnSpc>
                <a:spcPct val="100000"/>
              </a:lnSpc>
            </a:pPr>
            <a:r>
              <a:rPr lang="en-US" sz="1400" b="1" dirty="0">
                <a:solidFill>
                  <a:srgbClr val="1B3A6B"/>
                </a:solidFill>
                <a:latin typeface="Liter" pitchFamily="34" charset="0"/>
                <a:ea typeface="Liter" pitchFamily="34" charset="-122"/>
                <a:cs typeface="Liter" pitchFamily="34" charset="-120"/>
              </a:rPr>
              <a:t>Langage T-SQL</a:t>
            </a:r>
            <a:endParaRPr lang="en-US" sz="1600" dirty="0"/>
          </a:p>
        </p:txBody>
      </p:sp>
      <p:sp>
        <p:nvSpPr>
          <p:cNvPr id="43" name="Text 40"/>
          <p:cNvSpPr/>
          <p:nvPr/>
        </p:nvSpPr>
        <p:spPr>
          <a:xfrm>
            <a:off x="5765800" y="6146800"/>
            <a:ext cx="4318000" cy="508000"/>
          </a:xfrm>
          <a:prstGeom prst="rect">
            <a:avLst/>
          </a:prstGeom>
          <a:noFill/>
          <a:ln/>
        </p:spPr>
        <p:txBody>
          <a:bodyPr wrap="square" lIns="0" tIns="0" rIns="0" bIns="0" rtlCol="0" anchor="ctr"/>
          <a:lstStyle/>
          <a:p>
            <a:pPr>
              <a:lnSpc>
                <a:spcPct val="140000"/>
              </a:lnSpc>
            </a:pPr>
            <a:r>
              <a:rPr lang="en-US" sz="1300" dirty="0">
                <a:solidFill>
                  <a:srgbClr val="555555"/>
                </a:solidFill>
                <a:latin typeface="Liter" pitchFamily="34" charset="0"/>
                <a:ea typeface="Liter" pitchFamily="34" charset="-122"/>
                <a:cs typeface="Liter" pitchFamily="34" charset="-120"/>
              </a:rPr>
              <a:t>CREATE TABLE · INSERT INTO · CAST · TRIM · JOIN</a:t>
            </a:r>
            <a:endParaRPr lang="en-US" sz="1600" dirty="0"/>
          </a:p>
        </p:txBody>
      </p:sp>
      <p:sp>
        <p:nvSpPr>
          <p:cNvPr id="44" name="Shape 41"/>
          <p:cNvSpPr/>
          <p:nvPr/>
        </p:nvSpPr>
        <p:spPr>
          <a:xfrm>
            <a:off x="10414000" y="5740400"/>
            <a:ext cx="5003800" cy="1016000"/>
          </a:xfrm>
          <a:prstGeom prst="rect">
            <a:avLst/>
          </a:prstGeom>
          <a:solidFill>
            <a:srgbClr val="FFFFFF"/>
          </a:solidFill>
          <a:ln/>
        </p:spPr>
      </p:sp>
      <p:sp>
        <p:nvSpPr>
          <p:cNvPr id="45" name="Shape 42"/>
          <p:cNvSpPr/>
          <p:nvPr/>
        </p:nvSpPr>
        <p:spPr>
          <a:xfrm>
            <a:off x="10414000" y="5740400"/>
            <a:ext cx="5003800" cy="38100"/>
          </a:xfrm>
          <a:prstGeom prst="rect">
            <a:avLst/>
          </a:prstGeom>
          <a:solidFill>
            <a:srgbClr val="1B3A6B"/>
          </a:solidFill>
          <a:ln/>
        </p:spPr>
      </p:sp>
      <p:sp>
        <p:nvSpPr>
          <p:cNvPr id="46" name="Text 43"/>
          <p:cNvSpPr/>
          <p:nvPr/>
        </p:nvSpPr>
        <p:spPr>
          <a:xfrm>
            <a:off x="10541000" y="5842000"/>
            <a:ext cx="4749800" cy="279400"/>
          </a:xfrm>
          <a:prstGeom prst="rect">
            <a:avLst/>
          </a:prstGeom>
          <a:noFill/>
          <a:ln/>
        </p:spPr>
        <p:txBody>
          <a:bodyPr wrap="none" lIns="0" tIns="0" rIns="0" bIns="0" rtlCol="0" anchor="ctr"/>
          <a:lstStyle/>
          <a:p>
            <a:pPr>
              <a:lnSpc>
                <a:spcPct val="100000"/>
              </a:lnSpc>
            </a:pPr>
            <a:r>
              <a:rPr lang="en-US" sz="1400" b="1" dirty="0">
                <a:solidFill>
                  <a:srgbClr val="1B3A6B"/>
                </a:solidFill>
                <a:latin typeface="Liter" pitchFamily="34" charset="0"/>
                <a:ea typeface="Liter" pitchFamily="34" charset="-122"/>
                <a:cs typeface="Liter" pitchFamily="34" charset="-120"/>
              </a:rPr>
              <a:t>Architecture cible</a:t>
            </a:r>
            <a:endParaRPr lang="en-US" sz="1600" dirty="0"/>
          </a:p>
        </p:txBody>
      </p:sp>
      <p:sp>
        <p:nvSpPr>
          <p:cNvPr id="47" name="Text 44"/>
          <p:cNvSpPr/>
          <p:nvPr/>
        </p:nvSpPr>
        <p:spPr>
          <a:xfrm>
            <a:off x="10541000" y="6146800"/>
            <a:ext cx="4749800" cy="508000"/>
          </a:xfrm>
          <a:prstGeom prst="rect">
            <a:avLst/>
          </a:prstGeom>
          <a:noFill/>
          <a:ln/>
        </p:spPr>
        <p:txBody>
          <a:bodyPr wrap="square" lIns="0" tIns="0" rIns="0" bIns="0" rtlCol="0" anchor="ctr"/>
          <a:lstStyle/>
          <a:p>
            <a:pPr>
              <a:lnSpc>
                <a:spcPct val="140000"/>
              </a:lnSpc>
            </a:pPr>
            <a:r>
              <a:rPr lang="en-US" sz="1300" dirty="0">
                <a:solidFill>
                  <a:srgbClr val="555555"/>
                </a:solidFill>
                <a:latin typeface="Liter" pitchFamily="34" charset="0"/>
                <a:ea typeface="Liter" pitchFamily="34" charset="-122"/>
                <a:cs typeface="Liter" pitchFamily="34" charset="-120"/>
              </a:rPr>
              <a:t>Star Schema · DimStore · DimAccount · Fact_GL</a:t>
            </a:r>
            <a:endParaRPr lang="en-US" sz="1600" dirty="0"/>
          </a:p>
        </p:txBody>
      </p:sp>
      <p:sp>
        <p:nvSpPr>
          <p:cNvPr id="48" name="Text 45"/>
          <p:cNvSpPr/>
          <p:nvPr/>
        </p:nvSpPr>
        <p:spPr>
          <a:xfrm>
            <a:off x="863600" y="6985000"/>
            <a:ext cx="14478000" cy="965200"/>
          </a:xfrm>
          <a:prstGeom prst="rect">
            <a:avLst/>
          </a:prstGeom>
          <a:noFill/>
          <a:ln/>
        </p:spPr>
        <p:txBody>
          <a:bodyPr wrap="square" lIns="0" tIns="0" rIns="0" bIns="0" rtlCol="0" anchor="ctr"/>
          <a:lstStyle/>
          <a:p>
            <a:pPr>
              <a:lnSpc>
                <a:spcPct val="160000"/>
              </a:lnSpc>
            </a:pPr>
            <a:r>
              <a:rPr lang="en-US" sz="1400" b="1" dirty="0">
                <a:solidFill>
                  <a:srgbClr val="2D2D2D"/>
                </a:solidFill>
                <a:latin typeface="Liter" pitchFamily="34" charset="0"/>
                <a:ea typeface="Liter" pitchFamily="34" charset="-122"/>
                <a:cs typeface="Liter" pitchFamily="34" charset="-120"/>
              </a:rPr>
              <a:t>Flux de données :</a:t>
            </a:r>
            <a:r>
              <a:rPr lang="en-US" sz="1300" dirty="0">
                <a:solidFill>
                  <a:srgbClr val="2D2D2D"/>
                </a:solidFill>
                <a:latin typeface="Liter" pitchFamily="34" charset="0"/>
                <a:ea typeface="Liter" pitchFamily="34" charset="-122"/>
                <a:cs typeface="Liter" pitchFamily="34" charset="-120"/>
              </a:rPr>
              <a:t> </a:t>
            </a:r>
            <a:r>
              <a:rPr lang="en-US" sz="1300" dirty="0">
                <a:solidFill>
                  <a:srgbClr val="555555"/>
                </a:solidFill>
                <a:latin typeface="Liter" pitchFamily="34" charset="0"/>
                <a:ea typeface="Liter" pitchFamily="34" charset="-122"/>
                <a:cs typeface="Liter" pitchFamily="34" charset="-120"/>
              </a:rPr>
              <a:t>Les 5 fichiers CSV sont d'abord chargés en couche Bronze sans transformation, puis nettoyés et standardisés en Silver, enfin modélisés selon un Star Schema en Gold avec des vues SQL prêtes pour l'analyse et le reporting dans Power BI.</a:t>
            </a:r>
            <a:endParaRPr lang="en-US" sz="1600" dirty="0"/>
          </a:p>
        </p:txBody>
      </p:sp>
      <p:sp>
        <p:nvSpPr>
          <p:cNvPr id="49" name="Shape 46"/>
          <p:cNvSpPr/>
          <p:nvPr/>
        </p:nvSpPr>
        <p:spPr>
          <a:xfrm>
            <a:off x="635000" y="8331200"/>
            <a:ext cx="14986000" cy="12700"/>
          </a:xfrm>
          <a:prstGeom prst="rect">
            <a:avLst/>
          </a:prstGeom>
          <a:solidFill>
            <a:srgbClr val="D0D8E4"/>
          </a:solidFill>
          <a:ln/>
        </p:spPr>
      </p:sp>
      <p:sp>
        <p:nvSpPr>
          <p:cNvPr id="50" name="Text 47"/>
          <p:cNvSpPr/>
          <p:nvPr/>
        </p:nvSpPr>
        <p:spPr>
          <a:xfrm>
            <a:off x="15240000" y="8432800"/>
            <a:ext cx="762000" cy="279400"/>
          </a:xfrm>
          <a:prstGeom prst="rect">
            <a:avLst/>
          </a:prstGeom>
          <a:noFill/>
          <a:ln/>
        </p:spPr>
        <p:txBody>
          <a:bodyPr wrap="none" lIns="0" tIns="0" rIns="0" bIns="0" rtlCol="0" anchor="ctr"/>
          <a:lstStyle/>
          <a:p>
            <a:pPr algn="r">
              <a:lnSpc>
                <a:spcPct val="100000"/>
              </a:lnSpc>
            </a:pPr>
            <a:r>
              <a:rPr lang="en-US" sz="1200" dirty="0">
                <a:solidFill>
                  <a:srgbClr val="8899AA"/>
                </a:solidFill>
                <a:latin typeface="微软雅黑" pitchFamily="34" charset="0"/>
                <a:ea typeface="微软雅黑" pitchFamily="34" charset="-122"/>
                <a:cs typeface="微软雅黑" pitchFamily="34" charset="-120"/>
              </a:rPr>
              <a:t>02</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1B3A6B"/>
          </a:solidFill>
          <a:ln/>
        </p:spPr>
      </p:sp>
      <p:sp>
        <p:nvSpPr>
          <p:cNvPr id="3" name="Shape 1"/>
          <p:cNvSpPr/>
          <p:nvPr/>
        </p:nvSpPr>
        <p:spPr>
          <a:xfrm>
            <a:off x="635000" y="127000"/>
            <a:ext cx="50800" cy="685800"/>
          </a:xfrm>
          <a:prstGeom prst="rect">
            <a:avLst/>
          </a:prstGeom>
          <a:solidFill>
            <a:srgbClr val="C9963B"/>
          </a:solidFill>
          <a:ln/>
        </p:spPr>
      </p:sp>
      <p:sp>
        <p:nvSpPr>
          <p:cNvPr id="4" name="Text 2"/>
          <p:cNvSpPr/>
          <p:nvPr/>
        </p:nvSpPr>
        <p:spPr>
          <a:xfrm>
            <a:off x="787400" y="152400"/>
            <a:ext cx="14605000" cy="635000"/>
          </a:xfrm>
          <a:prstGeom prst="rect">
            <a:avLst/>
          </a:prstGeom>
          <a:noFill/>
          <a:ln/>
        </p:spPr>
        <p:txBody>
          <a:bodyPr wrap="square" lIns="0" tIns="0" rIns="0" bIns="0" rtlCol="0" anchor="ctr"/>
          <a:lstStyle/>
          <a:p>
            <a:pPr>
              <a:lnSpc>
                <a:spcPct val="100000"/>
              </a:lnSpc>
            </a:pPr>
            <a:r>
              <a:rPr lang="en-US" sz="2000" b="1" dirty="0">
                <a:solidFill>
                  <a:srgbClr val="C9963B"/>
                </a:solidFill>
                <a:latin typeface="Liter" pitchFamily="34" charset="0"/>
              </a:rPr>
              <a:t>Bronze Layer </a:t>
            </a:r>
            <a:r>
              <a:rPr lang="en-US" sz="2200" b="1" dirty="0">
                <a:solidFill>
                  <a:srgbClr val="0F2647"/>
                </a:solidFill>
                <a:latin typeface="Sorts Mill Goudy" pitchFamily="34" charset="0"/>
                <a:ea typeface="Sorts Mill Goudy" pitchFamily="34" charset="-122"/>
                <a:cs typeface="Sorts Mill Goudy" pitchFamily="34" charset="-120"/>
              </a:rPr>
              <a:t>: ingestion fidèle de 20000 transactions et 5 tables sources sans transformation</a:t>
            </a:r>
            <a:endParaRPr lang="en-US" sz="1600" dirty="0"/>
          </a:p>
        </p:txBody>
      </p:sp>
      <p:sp>
        <p:nvSpPr>
          <p:cNvPr id="5" name="Shape 3"/>
          <p:cNvSpPr/>
          <p:nvPr/>
        </p:nvSpPr>
        <p:spPr>
          <a:xfrm>
            <a:off x="635000" y="863600"/>
            <a:ext cx="14986000" cy="12700"/>
          </a:xfrm>
          <a:prstGeom prst="rect">
            <a:avLst/>
          </a:prstGeom>
          <a:solidFill>
            <a:srgbClr val="D0D8E4"/>
          </a:solidFill>
          <a:ln/>
        </p:spPr>
      </p:sp>
      <p:sp>
        <p:nvSpPr>
          <p:cNvPr id="6" name="Shape 4"/>
          <p:cNvSpPr/>
          <p:nvPr/>
        </p:nvSpPr>
        <p:spPr>
          <a:xfrm>
            <a:off x="635000" y="965200"/>
            <a:ext cx="7493000" cy="279400"/>
          </a:xfrm>
          <a:prstGeom prst="rect">
            <a:avLst/>
          </a:prstGeom>
          <a:solidFill>
            <a:srgbClr val="EBF0F7"/>
          </a:solidFill>
          <a:ln/>
        </p:spPr>
      </p:sp>
      <p:sp>
        <p:nvSpPr>
          <p:cNvPr id="7" name="Shape 5"/>
          <p:cNvSpPr/>
          <p:nvPr/>
        </p:nvSpPr>
        <p:spPr>
          <a:xfrm>
            <a:off x="635000" y="965200"/>
            <a:ext cx="38100" cy="279400"/>
          </a:xfrm>
          <a:prstGeom prst="rect">
            <a:avLst/>
          </a:prstGeom>
          <a:solidFill>
            <a:srgbClr val="C9963B"/>
          </a:solidFill>
          <a:ln/>
        </p:spPr>
      </p:sp>
      <p:sp>
        <p:nvSpPr>
          <p:cNvPr id="8" name="Text 6"/>
          <p:cNvSpPr/>
          <p:nvPr/>
        </p:nvSpPr>
        <p:spPr>
          <a:xfrm>
            <a:off x="736600" y="965200"/>
            <a:ext cx="7366000" cy="279400"/>
          </a:xfrm>
          <a:prstGeom prst="rect">
            <a:avLst/>
          </a:prstGeom>
          <a:noFill/>
          <a:ln/>
        </p:spPr>
        <p:txBody>
          <a:bodyPr wrap="none" lIns="0" tIns="0" rIns="0" bIns="0" rtlCol="0" anchor="ctr"/>
          <a:lstStyle/>
          <a:p>
            <a:pPr>
              <a:lnSpc>
                <a:spcPct val="100000"/>
              </a:lnSpc>
            </a:pPr>
            <a:r>
              <a:rPr lang="en-US" sz="1300" b="1" dirty="0">
                <a:solidFill>
                  <a:srgbClr val="0F2647"/>
                </a:solidFill>
                <a:latin typeface="Liter" pitchFamily="34" charset="0"/>
                <a:ea typeface="Liter" pitchFamily="34" charset="-122"/>
                <a:cs typeface="Liter" pitchFamily="34" charset="-120"/>
              </a:rPr>
              <a:t>Tables Bronze créées (copie fidèle des CSV)</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3578162306"/>
              </p:ext>
            </p:extLst>
          </p:nvPr>
        </p:nvGraphicFramePr>
        <p:xfrm>
          <a:off x="635000" y="1295400"/>
          <a:ext cx="7493000" cy="3048000"/>
        </p:xfrm>
        <a:graphic>
          <a:graphicData uri="http://schemas.openxmlformats.org/drawingml/2006/table">
            <a:tbl>
              <a:tblPr/>
              <a:tblGrid>
                <a:gridCol w="2397760">
                  <a:extLst>
                    <a:ext uri="{9D8B030D-6E8A-4147-A177-3AD203B41FA5}">
                      <a16:colId xmlns:a16="http://schemas.microsoft.com/office/drawing/2014/main" val="20000"/>
                    </a:ext>
                  </a:extLst>
                </a:gridCol>
                <a:gridCol w="3147060">
                  <a:extLst>
                    <a:ext uri="{9D8B030D-6E8A-4147-A177-3AD203B41FA5}">
                      <a16:colId xmlns:a16="http://schemas.microsoft.com/office/drawing/2014/main" val="20001"/>
                    </a:ext>
                  </a:extLst>
                </a:gridCol>
                <a:gridCol w="1948180">
                  <a:extLst>
                    <a:ext uri="{9D8B030D-6E8A-4147-A177-3AD203B41FA5}">
                      <a16:colId xmlns:a16="http://schemas.microsoft.com/office/drawing/2014/main" val="20002"/>
                    </a:ext>
                  </a:extLst>
                </a:gridCol>
              </a:tblGrid>
              <a:tr h="508000">
                <a:tc>
                  <a:txBody>
                    <a:bodyPr/>
                    <a:lstStyle/>
                    <a:p>
                      <a:pPr algn="l"/>
                      <a:r>
                        <a:rPr lang="en-US" sz="1300" b="1" u="none" dirty="0">
                          <a:solidFill>
                            <a:srgbClr val="FFFFFF"/>
                          </a:solidFill>
                          <a:latin typeface="Liter" pitchFamily="34" charset="0"/>
                          <a:ea typeface="Liter" pitchFamily="34" charset="-122"/>
                          <a:cs typeface="Liter" pitchFamily="34" charset="-120"/>
                        </a:rPr>
                        <a:t>Table Bronze</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1B3A6B"/>
                    </a:solidFill>
                  </a:tcPr>
                </a:tc>
                <a:tc>
                  <a:txBody>
                    <a:bodyPr/>
                    <a:lstStyle/>
                    <a:p>
                      <a:pPr algn="l"/>
                      <a:r>
                        <a:rPr lang="en-US" sz="1300" b="1" u="none" dirty="0">
                          <a:solidFill>
                            <a:srgbClr val="FFFFFF"/>
                          </a:solidFill>
                          <a:latin typeface="Liter" pitchFamily="34" charset="0"/>
                          <a:ea typeface="Liter" pitchFamily="34" charset="-122"/>
                          <a:cs typeface="Liter" pitchFamily="34" charset="-120"/>
                        </a:rPr>
                        <a:t>Description</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1B3A6B"/>
                    </a:solidFill>
                  </a:tcPr>
                </a:tc>
                <a:tc>
                  <a:txBody>
                    <a:bodyPr/>
                    <a:lstStyle/>
                    <a:p>
                      <a:pPr algn="l"/>
                      <a:r>
                        <a:rPr lang="en-US" sz="1300" b="1" u="none" dirty="0">
                          <a:solidFill>
                            <a:srgbClr val="FFFFFF"/>
                          </a:solidFill>
                          <a:latin typeface="Liter" pitchFamily="34" charset="0"/>
                          <a:ea typeface="Liter" pitchFamily="34" charset="-122"/>
                          <a:cs typeface="Liter" pitchFamily="34" charset="-120"/>
                        </a:rPr>
                        <a:t>Enregistrements</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508000">
                <a:tc>
                  <a:txBody>
                    <a:bodyPr/>
                    <a:lstStyle/>
                    <a:p>
                      <a:pPr algn="l"/>
                      <a:r>
                        <a:rPr lang="en-US" sz="1300" u="none" dirty="0">
                          <a:solidFill>
                            <a:srgbClr val="2D2D2D"/>
                          </a:solidFill>
                          <a:latin typeface="Liter" pitchFamily="34" charset="0"/>
                          <a:ea typeface="Liter" pitchFamily="34" charset="-122"/>
                          <a:cs typeface="Liter" pitchFamily="34" charset="-120"/>
                        </a:rPr>
                        <a:t>bronze.account</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tc>
                  <a:txBody>
                    <a:bodyPr/>
                    <a:lstStyle/>
                    <a:p>
                      <a:pPr algn="l"/>
                      <a:r>
                        <a:rPr lang="en-US" sz="1300" u="none" dirty="0">
                          <a:solidFill>
                            <a:srgbClr val="2D2D2D"/>
                          </a:solidFill>
                          <a:latin typeface="Liter" pitchFamily="34" charset="0"/>
                          <a:ea typeface="Liter" pitchFamily="34" charset="-122"/>
                          <a:cs typeface="Liter" pitchFamily="34" charset="-120"/>
                        </a:rPr>
                        <a:t>Plan comptable (NVARCHAR)</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tc>
                  <a:txBody>
                    <a:bodyPr/>
                    <a:lstStyle/>
                    <a:p>
                      <a:pPr algn="l"/>
                      <a:r>
                        <a:rPr lang="en-US" sz="1300" u="none" dirty="0">
                          <a:solidFill>
                            <a:srgbClr val="2D2D2D"/>
                          </a:solidFill>
                          <a:latin typeface="Liter" pitchFamily="34" charset="0"/>
                          <a:ea typeface="Liter" pitchFamily="34" charset="-122"/>
                          <a:cs typeface="Liter" pitchFamily="34" charset="-120"/>
                        </a:rPr>
                        <a:t>7</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8000">
                <a:tc>
                  <a:txBody>
                    <a:bodyPr/>
                    <a:lstStyle/>
                    <a:p>
                      <a:pPr algn="l"/>
                      <a:r>
                        <a:rPr lang="en-US" sz="1300" u="none" dirty="0">
                          <a:solidFill>
                            <a:srgbClr val="2D2D2D"/>
                          </a:solidFill>
                          <a:latin typeface="Liter" pitchFamily="34" charset="0"/>
                          <a:ea typeface="Liter" pitchFamily="34" charset="-122"/>
                          <a:cs typeface="Liter" pitchFamily="34" charset="-120"/>
                        </a:rPr>
                        <a:t>bronze.account_mapping</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EBF0F7"/>
                    </a:solidFill>
                  </a:tcPr>
                </a:tc>
                <a:tc>
                  <a:txBody>
                    <a:bodyPr/>
                    <a:lstStyle/>
                    <a:p>
                      <a:pPr algn="l"/>
                      <a:r>
                        <a:rPr lang="en-US" sz="1300" u="none" dirty="0">
                          <a:solidFill>
                            <a:srgbClr val="2D2D2D"/>
                          </a:solidFill>
                          <a:latin typeface="Liter" pitchFamily="34" charset="0"/>
                          <a:ea typeface="Liter" pitchFamily="34" charset="-122"/>
                          <a:cs typeface="Liter" pitchFamily="34" charset="-120"/>
                        </a:rPr>
                        <a:t>Mapping vers états financiers</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EBF0F7"/>
                    </a:solidFill>
                  </a:tcPr>
                </a:tc>
                <a:tc>
                  <a:txBody>
                    <a:bodyPr/>
                    <a:lstStyle/>
                    <a:p>
                      <a:pPr algn="l"/>
                      <a:r>
                        <a:rPr lang="en-US" sz="1300" u="none" dirty="0">
                          <a:solidFill>
                            <a:srgbClr val="2D2D2D"/>
                          </a:solidFill>
                          <a:latin typeface="Liter" pitchFamily="34" charset="0"/>
                          <a:ea typeface="Liter" pitchFamily="34" charset="-122"/>
                          <a:cs typeface="Liter" pitchFamily="34" charset="-120"/>
                        </a:rPr>
                        <a:t>10</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EBF0F7"/>
                    </a:solidFill>
                  </a:tcPr>
                </a:tc>
                <a:extLst>
                  <a:ext uri="{0D108BD9-81ED-4DB2-BD59-A6C34878D82A}">
                    <a16:rowId xmlns:a16="http://schemas.microsoft.com/office/drawing/2014/main" val="10002"/>
                  </a:ext>
                </a:extLst>
              </a:tr>
              <a:tr h="508000">
                <a:tc>
                  <a:txBody>
                    <a:bodyPr/>
                    <a:lstStyle/>
                    <a:p>
                      <a:pPr algn="l"/>
                      <a:r>
                        <a:rPr lang="en-US" sz="1300" u="none" dirty="0">
                          <a:solidFill>
                            <a:srgbClr val="2D2D2D"/>
                          </a:solidFill>
                          <a:latin typeface="Liter" pitchFamily="34" charset="0"/>
                          <a:ea typeface="Liter" pitchFamily="34" charset="-122"/>
                          <a:cs typeface="Liter" pitchFamily="34" charset="-120"/>
                        </a:rPr>
                        <a:t>bronze.gl_transaction</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tc>
                  <a:txBody>
                    <a:bodyPr/>
                    <a:lstStyle/>
                    <a:p>
                      <a:pPr algn="l"/>
                      <a:r>
                        <a:rPr lang="en-US" sz="1300" u="none" dirty="0">
                          <a:solidFill>
                            <a:srgbClr val="2D2D2D"/>
                          </a:solidFill>
                          <a:latin typeface="Liter" pitchFamily="34" charset="0"/>
                          <a:ea typeface="Liter" pitchFamily="34" charset="-122"/>
                          <a:cs typeface="Liter" pitchFamily="34" charset="-120"/>
                        </a:rPr>
                        <a:t>Transactions financières brutes</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tc>
                  <a:txBody>
                    <a:bodyPr/>
                    <a:lstStyle/>
                    <a:p>
                      <a:pPr algn="l"/>
                      <a:r>
                        <a:rPr lang="en-US" sz="1300" u="none" dirty="0">
                          <a:solidFill>
                            <a:srgbClr val="C9963B"/>
                          </a:solidFill>
                          <a:latin typeface="Liter" pitchFamily="34" charset="0"/>
                          <a:ea typeface="Liter" charset="0"/>
                          <a:cs typeface="Liter" charset="0"/>
                        </a:rPr>
                        <a:t>20 000</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8000">
                <a:tc>
                  <a:txBody>
                    <a:bodyPr/>
                    <a:lstStyle/>
                    <a:p>
                      <a:pPr algn="l"/>
                      <a:r>
                        <a:rPr lang="en-US" sz="1300" u="none" dirty="0">
                          <a:solidFill>
                            <a:srgbClr val="2D2D2D"/>
                          </a:solidFill>
                          <a:latin typeface="Liter" pitchFamily="34" charset="0"/>
                          <a:ea typeface="Liter" pitchFamily="34" charset="-122"/>
                          <a:cs typeface="Liter" pitchFamily="34" charset="-120"/>
                        </a:rPr>
                        <a:t>bronze.store</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EBF0F7"/>
                    </a:solidFill>
                  </a:tcPr>
                </a:tc>
                <a:tc>
                  <a:txBody>
                    <a:bodyPr/>
                    <a:lstStyle/>
                    <a:p>
                      <a:pPr algn="l"/>
                      <a:r>
                        <a:rPr lang="en-US" sz="1300" u="none" dirty="0">
                          <a:solidFill>
                            <a:srgbClr val="2D2D2D"/>
                          </a:solidFill>
                          <a:latin typeface="Liter" pitchFamily="34" charset="0"/>
                          <a:ea typeface="Liter" pitchFamily="34" charset="-122"/>
                          <a:cs typeface="Liter" pitchFamily="34" charset="-120"/>
                        </a:rPr>
                        <a:t>Magasins (pays, région)</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EBF0F7"/>
                    </a:solidFill>
                  </a:tcPr>
                </a:tc>
                <a:tc>
                  <a:txBody>
                    <a:bodyPr/>
                    <a:lstStyle/>
                    <a:p>
                      <a:pPr algn="l"/>
                      <a:r>
                        <a:rPr lang="en-US" sz="1300" u="none" dirty="0">
                          <a:solidFill>
                            <a:srgbClr val="2D2D2D"/>
                          </a:solidFill>
                          <a:latin typeface="Liter" pitchFamily="34" charset="0"/>
                          <a:ea typeface="Liter" pitchFamily="34" charset="-122"/>
                          <a:cs typeface="Liter" pitchFamily="34" charset="-120"/>
                        </a:rPr>
                        <a:t>8</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EBF0F7"/>
                    </a:solidFill>
                  </a:tcPr>
                </a:tc>
                <a:extLst>
                  <a:ext uri="{0D108BD9-81ED-4DB2-BD59-A6C34878D82A}">
                    <a16:rowId xmlns:a16="http://schemas.microsoft.com/office/drawing/2014/main" val="10004"/>
                  </a:ext>
                </a:extLst>
              </a:tr>
              <a:tr h="508000">
                <a:tc>
                  <a:txBody>
                    <a:bodyPr/>
                    <a:lstStyle/>
                    <a:p>
                      <a:pPr algn="l"/>
                      <a:r>
                        <a:rPr lang="en-US" sz="1300" u="none" dirty="0">
                          <a:solidFill>
                            <a:srgbClr val="2D2D2D"/>
                          </a:solidFill>
                          <a:latin typeface="Liter" pitchFamily="34" charset="0"/>
                          <a:ea typeface="Liter" pitchFamily="34" charset="-122"/>
                          <a:cs typeface="Liter" pitchFamily="34" charset="-120"/>
                        </a:rPr>
                        <a:t>bronze.store_master</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tc>
                  <a:txBody>
                    <a:bodyPr/>
                    <a:lstStyle/>
                    <a:p>
                      <a:pPr algn="l"/>
                      <a:r>
                        <a:rPr lang="en-US" sz="1300" u="none" dirty="0">
                          <a:solidFill>
                            <a:srgbClr val="2D2D2D"/>
                          </a:solidFill>
                          <a:latin typeface="Liter" pitchFamily="34" charset="0"/>
                          <a:ea typeface="Liter" pitchFamily="34" charset="-122"/>
                          <a:cs typeface="Liter" pitchFamily="34" charset="-120"/>
                        </a:rPr>
                        <a:t>Détails magasins (nom, type)</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tc>
                  <a:txBody>
                    <a:bodyPr/>
                    <a:lstStyle/>
                    <a:p>
                      <a:pPr algn="l"/>
                      <a:r>
                        <a:rPr lang="en-US" sz="1300" u="none" dirty="0">
                          <a:solidFill>
                            <a:srgbClr val="2D2D2D"/>
                          </a:solidFill>
                          <a:latin typeface="Liter" pitchFamily="34" charset="0"/>
                          <a:ea typeface="Liter" pitchFamily="34" charset="-122"/>
                          <a:cs typeface="Liter" pitchFamily="34" charset="-120"/>
                        </a:rPr>
                        <a:t>8</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 name="Shape 7"/>
          <p:cNvSpPr/>
          <p:nvPr/>
        </p:nvSpPr>
        <p:spPr>
          <a:xfrm>
            <a:off x="8255000" y="965200"/>
            <a:ext cx="7366000" cy="279400"/>
          </a:xfrm>
          <a:prstGeom prst="rect">
            <a:avLst/>
          </a:prstGeom>
          <a:solidFill>
            <a:srgbClr val="EBF0F7"/>
          </a:solidFill>
          <a:ln/>
        </p:spPr>
      </p:sp>
      <p:sp>
        <p:nvSpPr>
          <p:cNvPr id="11" name="Shape 8"/>
          <p:cNvSpPr/>
          <p:nvPr/>
        </p:nvSpPr>
        <p:spPr>
          <a:xfrm>
            <a:off x="8255000" y="965200"/>
            <a:ext cx="38100" cy="279400"/>
          </a:xfrm>
          <a:prstGeom prst="rect">
            <a:avLst/>
          </a:prstGeom>
          <a:solidFill>
            <a:srgbClr val="C9963B"/>
          </a:solidFill>
          <a:ln/>
        </p:spPr>
      </p:sp>
      <p:sp>
        <p:nvSpPr>
          <p:cNvPr id="12" name="Text 9"/>
          <p:cNvSpPr/>
          <p:nvPr/>
        </p:nvSpPr>
        <p:spPr>
          <a:xfrm>
            <a:off x="8356600" y="965200"/>
            <a:ext cx="7239000" cy="279400"/>
          </a:xfrm>
          <a:prstGeom prst="rect">
            <a:avLst/>
          </a:prstGeom>
          <a:noFill/>
          <a:ln/>
        </p:spPr>
        <p:txBody>
          <a:bodyPr wrap="none" lIns="0" tIns="0" rIns="0" bIns="0" rtlCol="0" anchor="ctr"/>
          <a:lstStyle/>
          <a:p>
            <a:pPr>
              <a:lnSpc>
                <a:spcPct val="100000"/>
              </a:lnSpc>
            </a:pPr>
            <a:r>
              <a:rPr lang="en-US" sz="1300" b="1" dirty="0">
                <a:solidFill>
                  <a:srgbClr val="0F2647"/>
                </a:solidFill>
                <a:latin typeface="Liter" pitchFamily="34" charset="0"/>
                <a:ea typeface="Liter" pitchFamily="34" charset="-122"/>
                <a:cs typeface="Liter" pitchFamily="34" charset="-120"/>
              </a:rPr>
              <a:t>Méthode de chargement BULK INSERT</a:t>
            </a:r>
            <a:endParaRPr lang="en-US" sz="1600" dirty="0"/>
          </a:p>
        </p:txBody>
      </p:sp>
      <p:sp>
        <p:nvSpPr>
          <p:cNvPr id="13" name="Text 10"/>
          <p:cNvSpPr/>
          <p:nvPr/>
        </p:nvSpPr>
        <p:spPr>
          <a:xfrm>
            <a:off x="8356600" y="1320800"/>
            <a:ext cx="7137400" cy="3022600"/>
          </a:xfrm>
          <a:prstGeom prst="rect">
            <a:avLst/>
          </a:prstGeom>
          <a:noFill/>
          <a:ln/>
        </p:spPr>
        <p:txBody>
          <a:bodyPr wrap="square" lIns="0" tIns="0" rIns="0" bIns="0" rtlCol="0" anchor="ctr"/>
          <a:lstStyle/>
          <a:p>
            <a:pPr>
              <a:lnSpc>
                <a:spcPct val="150000"/>
              </a:lnSpc>
            </a:pPr>
            <a:r>
              <a:rPr lang="en-US" sz="1400" b="1" dirty="0">
                <a:solidFill>
                  <a:srgbClr val="2D2D2D"/>
                </a:solidFill>
                <a:latin typeface="Liter" pitchFamily="34" charset="0"/>
                <a:ea typeface="Liter" pitchFamily="34" charset="-122"/>
                <a:cs typeface="Liter" pitchFamily="34" charset="-120"/>
              </a:rPr>
              <a:t>Commande T-SQL utilisée :</a:t>
            </a:r>
            <a:endParaRPr lang="en-US" sz="1600" dirty="0"/>
          </a:p>
          <a:p>
            <a:pPr>
              <a:lnSpc>
                <a:spcPct val="150000"/>
              </a:lnSpc>
            </a:pPr>
            <a:r>
              <a:rPr lang="en-US" sz="1200" dirty="0">
                <a:solidFill>
                  <a:srgbClr val="555555"/>
                </a:solidFill>
                <a:latin typeface="Liter" pitchFamily="34" charset="0"/>
                <a:ea typeface="Liter" pitchFamily="34" charset="-122"/>
                <a:cs typeface="Liter" pitchFamily="34" charset="-120"/>
              </a:rPr>
              <a:t>BULK INSERT bronze.gl_transaction</a:t>
            </a:r>
            <a:endParaRPr lang="en-US" sz="1600" dirty="0"/>
          </a:p>
          <a:p>
            <a:pPr>
              <a:lnSpc>
                <a:spcPct val="150000"/>
              </a:lnSpc>
            </a:pPr>
            <a:r>
              <a:rPr lang="en-US" sz="1200" dirty="0">
                <a:solidFill>
                  <a:srgbClr val="555555"/>
                </a:solidFill>
                <a:latin typeface="Liter" pitchFamily="34" charset="0"/>
                <a:ea typeface="Liter" pitchFamily="34" charset="-122"/>
                <a:cs typeface="Liter" pitchFamily="34" charset="-120"/>
              </a:rPr>
              <a:t>FROM '...\Ftransaction.csv'</a:t>
            </a:r>
            <a:endParaRPr lang="en-US" sz="1600" dirty="0"/>
          </a:p>
          <a:p>
            <a:pPr>
              <a:lnSpc>
                <a:spcPct val="150000"/>
              </a:lnSpc>
            </a:pPr>
            <a:r>
              <a:rPr lang="en-US" sz="1200" dirty="0">
                <a:solidFill>
                  <a:srgbClr val="555555"/>
                </a:solidFill>
                <a:latin typeface="Liter" pitchFamily="34" charset="0"/>
                <a:ea typeface="Liter" pitchFamily="34" charset="-122"/>
                <a:cs typeface="Liter" pitchFamily="34" charset="-120"/>
              </a:rPr>
              <a:t>WITH (FIELDTERMINATOR = ',',</a:t>
            </a:r>
            <a:endParaRPr lang="en-US" sz="1600" dirty="0"/>
          </a:p>
          <a:p>
            <a:pPr>
              <a:lnSpc>
                <a:spcPct val="150000"/>
              </a:lnSpc>
            </a:pPr>
            <a:r>
              <a:rPr lang="en-US" sz="1200" dirty="0">
                <a:solidFill>
                  <a:srgbClr val="555555"/>
                </a:solidFill>
                <a:latin typeface="Liter" pitchFamily="34" charset="0"/>
                <a:ea typeface="Liter" pitchFamily="34" charset="-122"/>
                <a:cs typeface="Liter" pitchFamily="34" charset="-120"/>
              </a:rPr>
              <a:t>ROWTERMINATOR = '\n',</a:t>
            </a:r>
            <a:endParaRPr lang="en-US" sz="1600" dirty="0"/>
          </a:p>
          <a:p>
            <a:pPr>
              <a:lnSpc>
                <a:spcPct val="150000"/>
              </a:lnSpc>
            </a:pPr>
            <a:r>
              <a:rPr lang="en-US" sz="1200" dirty="0">
                <a:solidFill>
                  <a:srgbClr val="555555"/>
                </a:solidFill>
                <a:latin typeface="Liter" pitchFamily="34" charset="0"/>
                <a:ea typeface="Liter" pitchFamily="34" charset="-122"/>
                <a:cs typeface="Liter" pitchFamily="34" charset="-120"/>
              </a:rPr>
              <a:t>FIRSTROW = 2,</a:t>
            </a:r>
            <a:endParaRPr lang="en-US" sz="1600" dirty="0"/>
          </a:p>
          <a:p>
            <a:pPr>
              <a:lnSpc>
                <a:spcPct val="150000"/>
              </a:lnSpc>
            </a:pPr>
            <a:r>
              <a:rPr lang="en-US" sz="1200" dirty="0">
                <a:solidFill>
                  <a:srgbClr val="555555"/>
                </a:solidFill>
                <a:latin typeface="Liter" pitchFamily="34" charset="0"/>
                <a:ea typeface="Liter" pitchFamily="34" charset="-122"/>
                <a:cs typeface="Liter" pitchFamily="34" charset="-120"/>
              </a:rPr>
              <a:t>CODEPAGE = '65001');</a:t>
            </a:r>
            <a:endParaRPr lang="en-US" sz="1600" dirty="0"/>
          </a:p>
          <a:p>
            <a:pPr>
              <a:lnSpc>
                <a:spcPct val="150000"/>
              </a:lnSpc>
              <a:spcBef>
                <a:spcPts val="600"/>
              </a:spcBef>
            </a:pPr>
            <a:r>
              <a:rPr lang="en-US" sz="1300" b="1" dirty="0">
                <a:solidFill>
                  <a:srgbClr val="C9963B"/>
                </a:solidFill>
                <a:latin typeface="Liter" pitchFamily="34" charset="0"/>
                <a:ea typeface="Liter" pitchFamily="34" charset="-122"/>
                <a:cs typeface="Liter" pitchFamily="34" charset="-120"/>
              </a:rPr>
              <a:t>CODEPAGE '65001' = encodage UTF-8</a:t>
            </a:r>
            <a:endParaRPr lang="en-US" sz="1600" dirty="0"/>
          </a:p>
        </p:txBody>
      </p:sp>
      <p:sp>
        <p:nvSpPr>
          <p:cNvPr id="14" name="Shape 11"/>
          <p:cNvSpPr/>
          <p:nvPr/>
        </p:nvSpPr>
        <p:spPr>
          <a:xfrm>
            <a:off x="635000" y="4521200"/>
            <a:ext cx="7493000" cy="279400"/>
          </a:xfrm>
          <a:prstGeom prst="rect">
            <a:avLst/>
          </a:prstGeom>
          <a:solidFill>
            <a:srgbClr val="EBF0F7"/>
          </a:solidFill>
          <a:ln/>
        </p:spPr>
      </p:sp>
      <p:sp>
        <p:nvSpPr>
          <p:cNvPr id="15" name="Shape 12"/>
          <p:cNvSpPr/>
          <p:nvPr/>
        </p:nvSpPr>
        <p:spPr>
          <a:xfrm>
            <a:off x="635000" y="4521200"/>
            <a:ext cx="38100" cy="279400"/>
          </a:xfrm>
          <a:prstGeom prst="rect">
            <a:avLst/>
          </a:prstGeom>
          <a:solidFill>
            <a:srgbClr val="C9963B"/>
          </a:solidFill>
          <a:ln/>
        </p:spPr>
      </p:sp>
      <p:sp>
        <p:nvSpPr>
          <p:cNvPr id="16" name="Text 13"/>
          <p:cNvSpPr/>
          <p:nvPr/>
        </p:nvSpPr>
        <p:spPr>
          <a:xfrm>
            <a:off x="736600" y="4521200"/>
            <a:ext cx="7366000" cy="279400"/>
          </a:xfrm>
          <a:prstGeom prst="rect">
            <a:avLst/>
          </a:prstGeom>
          <a:noFill/>
          <a:ln/>
        </p:spPr>
        <p:txBody>
          <a:bodyPr wrap="none" lIns="0" tIns="0" rIns="0" bIns="0" rtlCol="0" anchor="ctr"/>
          <a:lstStyle/>
          <a:p>
            <a:pPr>
              <a:lnSpc>
                <a:spcPct val="100000"/>
              </a:lnSpc>
            </a:pPr>
            <a:r>
              <a:rPr lang="en-US" sz="1300" b="1" dirty="0">
                <a:solidFill>
                  <a:srgbClr val="0F2647"/>
                </a:solidFill>
                <a:latin typeface="Liter" pitchFamily="34" charset="0"/>
                <a:ea typeface="Liter" pitchFamily="34" charset="-122"/>
                <a:cs typeface="Liter" pitchFamily="34" charset="-120"/>
              </a:rPr>
              <a:t>Principes de la couche Bronze</a:t>
            </a:r>
            <a:endParaRPr lang="en-US" sz="1600" dirty="0"/>
          </a:p>
        </p:txBody>
      </p:sp>
      <p:sp>
        <p:nvSpPr>
          <p:cNvPr id="17" name="Text 14"/>
          <p:cNvSpPr/>
          <p:nvPr/>
        </p:nvSpPr>
        <p:spPr>
          <a:xfrm>
            <a:off x="736600" y="4876800"/>
            <a:ext cx="7264400" cy="3302000"/>
          </a:xfrm>
          <a:prstGeom prst="rect">
            <a:avLst/>
          </a:prstGeom>
          <a:noFill/>
          <a:ln/>
        </p:spPr>
        <p:txBody>
          <a:bodyPr wrap="square" lIns="0" tIns="0" rIns="0" bIns="0" rtlCol="0" anchor="ctr"/>
          <a:lstStyle/>
          <a:p>
            <a:pPr>
              <a:lnSpc>
                <a:spcPct val="160000"/>
              </a:lnSpc>
            </a:pPr>
            <a:r>
              <a:rPr lang="en-US" sz="1400" b="1" dirty="0">
                <a:solidFill>
                  <a:srgbClr val="2D2D2D"/>
                </a:solidFill>
                <a:latin typeface="Liter" pitchFamily="34" charset="0"/>
                <a:ea typeface="Liter" pitchFamily="34" charset="-122"/>
                <a:cs typeface="Liter" pitchFamily="34" charset="-120"/>
              </a:rPr>
              <a:t>Rôle :</a:t>
            </a:r>
            <a:r>
              <a:rPr lang="en-US" sz="1400" dirty="0">
                <a:solidFill>
                  <a:srgbClr val="2D2D2D"/>
                </a:solidFill>
                <a:latin typeface="Liter" pitchFamily="34" charset="0"/>
                <a:ea typeface="Liter" pitchFamily="34" charset="-122"/>
                <a:cs typeface="Liter" pitchFamily="34" charset="-120"/>
              </a:rPr>
              <a:t> </a:t>
            </a:r>
            <a:r>
              <a:rPr lang="en-US" sz="1300" dirty="0">
                <a:solidFill>
                  <a:srgbClr val="555555"/>
                </a:solidFill>
                <a:latin typeface="Liter" pitchFamily="34" charset="0"/>
                <a:ea typeface="Liter" pitchFamily="34" charset="-122"/>
                <a:cs typeface="Liter" pitchFamily="34" charset="-120"/>
              </a:rPr>
              <a:t>Stocker les données brutes sans aucune transformation → </a:t>
            </a:r>
            <a:r>
              <a:rPr lang="en-US" sz="1300" dirty="0" err="1">
                <a:solidFill>
                  <a:srgbClr val="555555"/>
                </a:solidFill>
                <a:latin typeface="Liter" pitchFamily="34" charset="0"/>
                <a:ea typeface="Liter" pitchFamily="34" charset="-122"/>
                <a:cs typeface="Liter" pitchFamily="34" charset="-120"/>
              </a:rPr>
              <a:t>copie</a:t>
            </a:r>
            <a:r>
              <a:rPr lang="en-US" sz="1300" dirty="0">
                <a:solidFill>
                  <a:srgbClr val="555555"/>
                </a:solidFill>
                <a:latin typeface="Liter" pitchFamily="34" charset="0"/>
                <a:ea typeface="Liter" pitchFamily="34" charset="-122"/>
                <a:cs typeface="Liter" pitchFamily="34" charset="-120"/>
              </a:rPr>
              <a:t> fidèle des fichiers source</a:t>
            </a:r>
            <a:endParaRPr lang="en-US" sz="1600" dirty="0"/>
          </a:p>
          <a:p>
            <a:pPr>
              <a:lnSpc>
                <a:spcPct val="160000"/>
              </a:lnSpc>
              <a:spcBef>
                <a:spcPts val="600"/>
              </a:spcBef>
            </a:pPr>
            <a:r>
              <a:rPr lang="en-US" sz="1400" b="1" dirty="0">
                <a:solidFill>
                  <a:srgbClr val="2D2D2D"/>
                </a:solidFill>
                <a:latin typeface="Liter" pitchFamily="34" charset="0"/>
                <a:ea typeface="Liter" pitchFamily="34" charset="-122"/>
                <a:cs typeface="Liter" pitchFamily="34" charset="-120"/>
              </a:rPr>
              <a:t>Caractéristiques :</a:t>
            </a:r>
            <a:endParaRPr lang="en-US" sz="1600" dirty="0"/>
          </a:p>
          <a:p>
            <a:pPr>
              <a:lnSpc>
                <a:spcPct val="160000"/>
              </a:lnSpc>
            </a:pPr>
            <a:r>
              <a:rPr lang="en-US" sz="1300" dirty="0">
                <a:solidFill>
                  <a:srgbClr val="555555"/>
                </a:solidFill>
                <a:latin typeface="Liter" pitchFamily="34" charset="0"/>
                <a:ea typeface="Liter" pitchFamily="34" charset="-122"/>
                <a:cs typeface="Liter" pitchFamily="34" charset="-120"/>
              </a:rPr>
              <a:t>■ Toutes les colonnes en NVARCHAR(255) → pas de contrainte de type</a:t>
            </a:r>
            <a:endParaRPr lang="en-US" sz="1600" dirty="0"/>
          </a:p>
          <a:p>
            <a:pPr>
              <a:lnSpc>
                <a:spcPct val="160000"/>
              </a:lnSpc>
            </a:pPr>
            <a:r>
              <a:rPr lang="en-US" sz="1300" dirty="0">
                <a:solidFill>
                  <a:srgbClr val="555555"/>
                </a:solidFill>
                <a:latin typeface="Liter" pitchFamily="34" charset="0"/>
                <a:ea typeface="Liter" pitchFamily="34" charset="-122"/>
                <a:cs typeface="Liter" pitchFamily="34" charset="-120"/>
              </a:rPr>
              <a:t>■ Aucune clé primaire, aucune validation →  données brutes</a:t>
            </a:r>
            <a:endParaRPr lang="en-US" sz="1600" dirty="0"/>
          </a:p>
          <a:p>
            <a:pPr>
              <a:lnSpc>
                <a:spcPct val="160000"/>
              </a:lnSpc>
            </a:pPr>
            <a:r>
              <a:rPr lang="en-US" sz="1300" dirty="0">
                <a:solidFill>
                  <a:srgbClr val="555555"/>
                </a:solidFill>
                <a:latin typeface="Liter" pitchFamily="34" charset="0"/>
                <a:ea typeface="Liter" pitchFamily="34" charset="-122"/>
                <a:cs typeface="Liter" pitchFamily="34" charset="-120"/>
              </a:rPr>
              <a:t>■ Permet de tracer les données depuis la source</a:t>
            </a:r>
            <a:endParaRPr lang="en-US" sz="1600" dirty="0"/>
          </a:p>
          <a:p>
            <a:pPr>
              <a:lnSpc>
                <a:spcPct val="160000"/>
              </a:lnSpc>
              <a:spcBef>
                <a:spcPts val="600"/>
              </a:spcBef>
            </a:pPr>
            <a:r>
              <a:rPr lang="en-US" sz="1400" b="1" dirty="0">
                <a:solidFill>
                  <a:srgbClr val="2D2D2D"/>
                </a:solidFill>
                <a:latin typeface="Liter" pitchFamily="34" charset="0"/>
                <a:ea typeface="Liter" pitchFamily="34" charset="-122"/>
                <a:cs typeface="Liter" pitchFamily="34" charset="-120"/>
              </a:rPr>
              <a:t>Vérification :</a:t>
            </a:r>
            <a:endParaRPr lang="en-US" sz="1600" dirty="0"/>
          </a:p>
          <a:p>
            <a:pPr>
              <a:lnSpc>
                <a:spcPct val="160000"/>
              </a:lnSpc>
            </a:pPr>
            <a:r>
              <a:rPr lang="en-US" sz="1300" dirty="0">
                <a:solidFill>
                  <a:srgbClr val="555555"/>
                </a:solidFill>
                <a:latin typeface="Liter" pitchFamily="34" charset="0"/>
                <a:ea typeface="Liter" pitchFamily="34" charset="-122"/>
                <a:cs typeface="Liter" pitchFamily="34" charset="-120"/>
              </a:rPr>
              <a:t>■ COUNT(*) sur chaque table pour valider le chargement</a:t>
            </a:r>
            <a:endParaRPr lang="en-US" sz="1600" dirty="0"/>
          </a:p>
          <a:p>
            <a:pPr>
              <a:lnSpc>
                <a:spcPct val="160000"/>
              </a:lnSpc>
            </a:pPr>
            <a:r>
              <a:rPr lang="en-US" sz="1300" dirty="0">
                <a:solidFill>
                  <a:srgbClr val="555555"/>
                </a:solidFill>
                <a:latin typeface="Liter" pitchFamily="34" charset="0"/>
                <a:ea typeface="Liter" pitchFamily="34" charset="-122"/>
                <a:cs typeface="Liter" pitchFamily="34" charset="-120"/>
              </a:rPr>
              <a:t>■ TOP 5 échantillon pour vérifier l'intégrité visuelle</a:t>
            </a:r>
            <a:endParaRPr lang="en-US" sz="1600" dirty="0"/>
          </a:p>
        </p:txBody>
      </p:sp>
      <p:sp>
        <p:nvSpPr>
          <p:cNvPr id="18" name="Shape 15"/>
          <p:cNvSpPr/>
          <p:nvPr/>
        </p:nvSpPr>
        <p:spPr>
          <a:xfrm>
            <a:off x="8255000" y="4521200"/>
            <a:ext cx="7366000" cy="279400"/>
          </a:xfrm>
          <a:prstGeom prst="rect">
            <a:avLst/>
          </a:prstGeom>
          <a:solidFill>
            <a:srgbClr val="EBF0F7"/>
          </a:solidFill>
          <a:ln/>
        </p:spPr>
      </p:sp>
      <p:sp>
        <p:nvSpPr>
          <p:cNvPr id="19" name="Shape 16"/>
          <p:cNvSpPr/>
          <p:nvPr/>
        </p:nvSpPr>
        <p:spPr>
          <a:xfrm>
            <a:off x="8255000" y="4521200"/>
            <a:ext cx="38100" cy="279400"/>
          </a:xfrm>
          <a:prstGeom prst="rect">
            <a:avLst/>
          </a:prstGeom>
          <a:solidFill>
            <a:srgbClr val="C9963B"/>
          </a:solidFill>
          <a:ln/>
        </p:spPr>
      </p:sp>
      <p:sp>
        <p:nvSpPr>
          <p:cNvPr id="20" name="Text 17"/>
          <p:cNvSpPr/>
          <p:nvPr/>
        </p:nvSpPr>
        <p:spPr>
          <a:xfrm>
            <a:off x="8356600" y="4521200"/>
            <a:ext cx="7239000" cy="279400"/>
          </a:xfrm>
          <a:prstGeom prst="rect">
            <a:avLst/>
          </a:prstGeom>
          <a:noFill/>
          <a:ln/>
        </p:spPr>
        <p:txBody>
          <a:bodyPr wrap="none" lIns="0" tIns="0" rIns="0" bIns="0" rtlCol="0" anchor="ctr"/>
          <a:lstStyle/>
          <a:p>
            <a:pPr>
              <a:lnSpc>
                <a:spcPct val="100000"/>
              </a:lnSpc>
            </a:pPr>
            <a:r>
              <a:rPr lang="en-US" sz="1300" b="1" dirty="0">
                <a:solidFill>
                  <a:srgbClr val="0F2647"/>
                </a:solidFill>
                <a:latin typeface="Liter" pitchFamily="34" charset="0"/>
                <a:ea typeface="Liter" pitchFamily="34" charset="-122"/>
                <a:cs typeface="Liter" pitchFamily="34" charset="-120"/>
              </a:rPr>
              <a:t>Data Quality Check — Résultats</a:t>
            </a:r>
            <a:endParaRPr lang="en-US" sz="1600" dirty="0"/>
          </a:p>
        </p:txBody>
      </p:sp>
      <p:sp>
        <p:nvSpPr>
          <p:cNvPr id="21" name="Shape 18"/>
          <p:cNvSpPr/>
          <p:nvPr/>
        </p:nvSpPr>
        <p:spPr>
          <a:xfrm>
            <a:off x="8356600" y="4902200"/>
            <a:ext cx="3429000" cy="1016000"/>
          </a:xfrm>
          <a:prstGeom prst="rect">
            <a:avLst/>
          </a:prstGeom>
          <a:solidFill>
            <a:srgbClr val="EBF0F7"/>
          </a:solidFill>
          <a:ln/>
        </p:spPr>
      </p:sp>
      <p:sp>
        <p:nvSpPr>
          <p:cNvPr id="22" name="Shape 19"/>
          <p:cNvSpPr/>
          <p:nvPr/>
        </p:nvSpPr>
        <p:spPr>
          <a:xfrm>
            <a:off x="8356600" y="4902200"/>
            <a:ext cx="3429000" cy="38100"/>
          </a:xfrm>
          <a:prstGeom prst="rect">
            <a:avLst/>
          </a:prstGeom>
          <a:solidFill>
            <a:srgbClr val="1B3A6B"/>
          </a:solidFill>
          <a:ln/>
        </p:spPr>
      </p:sp>
      <p:sp>
        <p:nvSpPr>
          <p:cNvPr id="23" name="Text 20"/>
          <p:cNvSpPr/>
          <p:nvPr/>
        </p:nvSpPr>
        <p:spPr>
          <a:xfrm>
            <a:off x="8458200" y="5003800"/>
            <a:ext cx="3225800" cy="457200"/>
          </a:xfrm>
          <a:prstGeom prst="rect">
            <a:avLst/>
          </a:prstGeom>
          <a:noFill/>
          <a:ln/>
        </p:spPr>
        <p:txBody>
          <a:bodyPr wrap="none" lIns="0" tIns="0" rIns="0" bIns="0" rtlCol="0" anchor="ctr"/>
          <a:lstStyle/>
          <a:p>
            <a:pPr>
              <a:lnSpc>
                <a:spcPct val="100000"/>
              </a:lnSpc>
            </a:pPr>
            <a:r>
              <a:rPr lang="en-US" sz="2600" b="1" dirty="0">
                <a:solidFill>
                  <a:srgbClr val="1B3A6B"/>
                </a:solidFill>
                <a:latin typeface="Sorts Mill Goudy" pitchFamily="34" charset="0"/>
                <a:ea typeface="Sorts Mill Goudy" pitchFamily="34" charset="-122"/>
                <a:cs typeface="Sorts Mill Goudy" pitchFamily="34" charset="-120"/>
              </a:rPr>
              <a:t>20000</a:t>
            </a:r>
            <a:endParaRPr lang="en-US" sz="1600" dirty="0"/>
          </a:p>
        </p:txBody>
      </p:sp>
      <p:sp>
        <p:nvSpPr>
          <p:cNvPr id="24" name="Text 21"/>
          <p:cNvSpPr/>
          <p:nvPr/>
        </p:nvSpPr>
        <p:spPr>
          <a:xfrm>
            <a:off x="8458200" y="5486400"/>
            <a:ext cx="3225800" cy="355600"/>
          </a:xfrm>
          <a:prstGeom prst="rect">
            <a:avLst/>
          </a:prstGeom>
          <a:noFill/>
          <a:ln/>
        </p:spPr>
        <p:txBody>
          <a:bodyPr wrap="none" lIns="0" tIns="0" rIns="0" bIns="0" rtlCol="0" anchor="ctr"/>
          <a:lstStyle/>
          <a:p>
            <a:pPr>
              <a:lnSpc>
                <a:spcPct val="100000"/>
              </a:lnSpc>
            </a:pPr>
            <a:r>
              <a:rPr lang="en-US" sz="1200" dirty="0">
                <a:solidFill>
                  <a:srgbClr val="555555"/>
                </a:solidFill>
                <a:latin typeface="Liter" pitchFamily="34" charset="0"/>
                <a:ea typeface="Liter" pitchFamily="34" charset="-122"/>
                <a:cs typeface="Liter" pitchFamily="34" charset="-120"/>
              </a:rPr>
              <a:t>Total enregistrements Bronze</a:t>
            </a:r>
            <a:endParaRPr lang="en-US" sz="1600" dirty="0"/>
          </a:p>
        </p:txBody>
      </p:sp>
      <p:sp>
        <p:nvSpPr>
          <p:cNvPr id="25" name="Shape 22"/>
          <p:cNvSpPr/>
          <p:nvPr/>
        </p:nvSpPr>
        <p:spPr>
          <a:xfrm>
            <a:off x="11938000" y="4902200"/>
            <a:ext cx="3556000" cy="1016000"/>
          </a:xfrm>
          <a:prstGeom prst="rect">
            <a:avLst/>
          </a:prstGeom>
          <a:solidFill>
            <a:srgbClr val="EBF0F7"/>
          </a:solidFill>
          <a:ln/>
        </p:spPr>
      </p:sp>
      <p:sp>
        <p:nvSpPr>
          <p:cNvPr id="26" name="Shape 23"/>
          <p:cNvSpPr/>
          <p:nvPr/>
        </p:nvSpPr>
        <p:spPr>
          <a:xfrm>
            <a:off x="11938000" y="4902200"/>
            <a:ext cx="3556000" cy="38100"/>
          </a:xfrm>
          <a:prstGeom prst="rect">
            <a:avLst/>
          </a:prstGeom>
          <a:solidFill>
            <a:srgbClr val="C9963B"/>
          </a:solidFill>
          <a:ln/>
        </p:spPr>
      </p:sp>
      <p:sp>
        <p:nvSpPr>
          <p:cNvPr id="27" name="Text 24"/>
          <p:cNvSpPr/>
          <p:nvPr/>
        </p:nvSpPr>
        <p:spPr>
          <a:xfrm>
            <a:off x="12039600" y="5003800"/>
            <a:ext cx="3352800" cy="457200"/>
          </a:xfrm>
          <a:prstGeom prst="rect">
            <a:avLst/>
          </a:prstGeom>
          <a:noFill/>
          <a:ln/>
        </p:spPr>
        <p:txBody>
          <a:bodyPr wrap="none" lIns="0" tIns="0" rIns="0" bIns="0" rtlCol="0" anchor="ctr"/>
          <a:lstStyle/>
          <a:p>
            <a:pPr>
              <a:lnSpc>
                <a:spcPct val="100000"/>
              </a:lnSpc>
            </a:pPr>
            <a:r>
              <a:rPr lang="en-US" sz="2600" b="1" dirty="0">
                <a:solidFill>
                  <a:srgbClr val="C9963B"/>
                </a:solidFill>
                <a:latin typeface="Sorts Mill Goudy" pitchFamily="34" charset="0"/>
                <a:ea typeface="Sorts Mill Goudy" pitchFamily="34" charset="-122"/>
                <a:cs typeface="Sorts Mill Goudy" pitchFamily="34" charset="-120"/>
              </a:rPr>
              <a:t>5/5</a:t>
            </a:r>
            <a:endParaRPr lang="en-US" sz="1600" dirty="0"/>
          </a:p>
        </p:txBody>
      </p:sp>
      <p:sp>
        <p:nvSpPr>
          <p:cNvPr id="28" name="Text 25"/>
          <p:cNvSpPr/>
          <p:nvPr/>
        </p:nvSpPr>
        <p:spPr>
          <a:xfrm>
            <a:off x="12039600" y="5486400"/>
            <a:ext cx="3352800" cy="355600"/>
          </a:xfrm>
          <a:prstGeom prst="rect">
            <a:avLst/>
          </a:prstGeom>
          <a:noFill/>
          <a:ln/>
        </p:spPr>
        <p:txBody>
          <a:bodyPr wrap="none" lIns="0" tIns="0" rIns="0" bIns="0" rtlCol="0" anchor="ctr"/>
          <a:lstStyle/>
          <a:p>
            <a:pPr>
              <a:lnSpc>
                <a:spcPct val="100000"/>
              </a:lnSpc>
            </a:pPr>
            <a:r>
              <a:rPr lang="en-US" sz="1200" dirty="0">
                <a:solidFill>
                  <a:srgbClr val="555555"/>
                </a:solidFill>
                <a:latin typeface="Liter" pitchFamily="34" charset="0"/>
                <a:ea typeface="Liter" pitchFamily="34" charset="-122"/>
                <a:cs typeface="Liter" pitchFamily="34" charset="-120"/>
              </a:rPr>
              <a:t>Tables chargées avec succès</a:t>
            </a:r>
            <a:endParaRPr lang="en-US" sz="1600" dirty="0"/>
          </a:p>
        </p:txBody>
      </p:sp>
      <p:sp>
        <p:nvSpPr>
          <p:cNvPr id="29" name="Text 26"/>
          <p:cNvSpPr/>
          <p:nvPr/>
        </p:nvSpPr>
        <p:spPr>
          <a:xfrm>
            <a:off x="8356600" y="6096000"/>
            <a:ext cx="7137400" cy="2082800"/>
          </a:xfrm>
          <a:prstGeom prst="rect">
            <a:avLst/>
          </a:prstGeom>
          <a:noFill/>
          <a:ln/>
        </p:spPr>
        <p:txBody>
          <a:bodyPr wrap="square" lIns="0" tIns="0" rIns="0" bIns="0" rtlCol="0" anchor="ctr"/>
          <a:lstStyle/>
          <a:p>
            <a:pPr>
              <a:lnSpc>
                <a:spcPct val="160000"/>
              </a:lnSpc>
            </a:pPr>
            <a:r>
              <a:rPr lang="en-US" sz="1400" b="1" dirty="0">
                <a:solidFill>
                  <a:srgbClr val="2D2D2D"/>
                </a:solidFill>
                <a:latin typeface="Liter" pitchFamily="34" charset="0"/>
                <a:ea typeface="Liter" pitchFamily="34" charset="-122"/>
                <a:cs typeface="Liter" pitchFamily="34" charset="-120"/>
              </a:rPr>
              <a:t>Requêtes de validation :</a:t>
            </a:r>
            <a:endParaRPr lang="en-US" sz="1600" dirty="0"/>
          </a:p>
          <a:p>
            <a:pPr>
              <a:lnSpc>
                <a:spcPct val="160000"/>
              </a:lnSpc>
            </a:pPr>
            <a:r>
              <a:rPr lang="en-US" sz="1300" dirty="0">
                <a:solidFill>
                  <a:srgbClr val="555555"/>
                </a:solidFill>
                <a:latin typeface="Liter" pitchFamily="34" charset="0"/>
                <a:ea typeface="Liter" pitchFamily="34" charset="-122"/>
                <a:cs typeface="Liter" pitchFamily="34" charset="-120"/>
              </a:rPr>
              <a:t>■ SELECT COUNT(*) FROM bronze.account → </a:t>
            </a:r>
            <a:r>
              <a:rPr lang="en-US" sz="1300" b="1" dirty="0">
                <a:solidFill>
                  <a:srgbClr val="555555"/>
                </a:solidFill>
                <a:latin typeface="Liter" pitchFamily="34" charset="0"/>
                <a:ea typeface="Liter" pitchFamily="34" charset="-122"/>
                <a:cs typeface="Liter" pitchFamily="34" charset="-120"/>
              </a:rPr>
              <a:t>7</a:t>
            </a:r>
            <a:endParaRPr lang="en-US" sz="1600" dirty="0"/>
          </a:p>
          <a:p>
            <a:pPr>
              <a:lnSpc>
                <a:spcPct val="160000"/>
              </a:lnSpc>
            </a:pPr>
            <a:r>
              <a:rPr lang="en-US" sz="1300" dirty="0">
                <a:solidFill>
                  <a:srgbClr val="555555"/>
                </a:solidFill>
                <a:latin typeface="Liter" pitchFamily="34" charset="0"/>
                <a:ea typeface="Liter" pitchFamily="34" charset="-122"/>
                <a:cs typeface="Liter" pitchFamily="34" charset="-120"/>
              </a:rPr>
              <a:t>■ SELECT COUNT(*) FROM bronze.gl_transaction → </a:t>
            </a:r>
            <a:r>
              <a:rPr lang="en-US" sz="1300" b="1" dirty="0">
                <a:solidFill>
                  <a:srgbClr val="555555"/>
                </a:solidFill>
                <a:latin typeface="Liter" pitchFamily="34" charset="0"/>
                <a:ea typeface="Liter" pitchFamily="34" charset="-122"/>
                <a:cs typeface="Liter" pitchFamily="34" charset="-120"/>
              </a:rPr>
              <a:t>1 000</a:t>
            </a:r>
            <a:endParaRPr lang="en-US" sz="1600" dirty="0"/>
          </a:p>
          <a:p>
            <a:pPr>
              <a:lnSpc>
                <a:spcPct val="160000"/>
              </a:lnSpc>
            </a:pPr>
            <a:r>
              <a:rPr lang="en-US" sz="1300" dirty="0">
                <a:solidFill>
                  <a:srgbClr val="555555"/>
                </a:solidFill>
                <a:latin typeface="Liter" pitchFamily="34" charset="0"/>
                <a:ea typeface="Liter" pitchFamily="34" charset="-122"/>
                <a:cs typeface="Liter" pitchFamily="34" charset="-120"/>
              </a:rPr>
              <a:t>■ SELECT TOP 5 * FROM bronze.gl_transaction → OK</a:t>
            </a:r>
            <a:endParaRPr lang="en-US" sz="1600" dirty="0"/>
          </a:p>
          <a:p>
            <a:pPr>
              <a:lnSpc>
                <a:spcPct val="160000"/>
              </a:lnSpc>
              <a:spcBef>
                <a:spcPts val="600"/>
              </a:spcBef>
            </a:pPr>
            <a:r>
              <a:rPr lang="en-US" sz="1300" b="1" dirty="0">
                <a:solidFill>
                  <a:srgbClr val="C9963B"/>
                </a:solidFill>
                <a:latin typeface="Liter" pitchFamily="34" charset="0"/>
                <a:ea typeface="Liter" pitchFamily="34" charset="-122"/>
                <a:cs typeface="Liter" pitchFamily="34" charset="-120"/>
              </a:rPr>
              <a:t>Status : Chargement Bronze validé ✓</a:t>
            </a:r>
            <a:endParaRPr lang="en-US" sz="1600" dirty="0"/>
          </a:p>
        </p:txBody>
      </p:sp>
      <p:sp>
        <p:nvSpPr>
          <p:cNvPr id="30" name="Shape 27"/>
          <p:cNvSpPr/>
          <p:nvPr/>
        </p:nvSpPr>
        <p:spPr>
          <a:xfrm>
            <a:off x="635000" y="8331200"/>
            <a:ext cx="14986000" cy="12700"/>
          </a:xfrm>
          <a:prstGeom prst="rect">
            <a:avLst/>
          </a:prstGeom>
          <a:solidFill>
            <a:srgbClr val="D0D8E4"/>
          </a:solidFill>
          <a:ln/>
        </p:spPr>
      </p:sp>
      <p:sp>
        <p:nvSpPr>
          <p:cNvPr id="31" name="Text 28"/>
          <p:cNvSpPr/>
          <p:nvPr/>
        </p:nvSpPr>
        <p:spPr>
          <a:xfrm>
            <a:off x="15240000" y="8432800"/>
            <a:ext cx="762000" cy="279400"/>
          </a:xfrm>
          <a:prstGeom prst="rect">
            <a:avLst/>
          </a:prstGeom>
          <a:noFill/>
          <a:ln/>
        </p:spPr>
        <p:txBody>
          <a:bodyPr wrap="none" lIns="0" tIns="0" rIns="0" bIns="0" rtlCol="0" anchor="ctr"/>
          <a:lstStyle/>
          <a:p>
            <a:pPr algn="r">
              <a:lnSpc>
                <a:spcPct val="100000"/>
              </a:lnSpc>
            </a:pPr>
            <a:r>
              <a:rPr lang="en-US" sz="1200" dirty="0">
                <a:solidFill>
                  <a:srgbClr val="8899AA"/>
                </a:solidFill>
                <a:latin typeface="微软雅黑" pitchFamily="34" charset="0"/>
                <a:ea typeface="微软雅黑" pitchFamily="34" charset="-122"/>
                <a:cs typeface="微软雅黑" pitchFamily="34" charset="-120"/>
              </a:rPr>
              <a:t>03</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1B3A6B"/>
          </a:solidFill>
          <a:ln/>
        </p:spPr>
      </p:sp>
      <p:sp>
        <p:nvSpPr>
          <p:cNvPr id="3" name="Shape 1"/>
          <p:cNvSpPr/>
          <p:nvPr/>
        </p:nvSpPr>
        <p:spPr>
          <a:xfrm>
            <a:off x="635000" y="127000"/>
            <a:ext cx="50800" cy="685800"/>
          </a:xfrm>
          <a:prstGeom prst="rect">
            <a:avLst/>
          </a:prstGeom>
          <a:solidFill>
            <a:srgbClr val="C9963B"/>
          </a:solidFill>
          <a:ln/>
        </p:spPr>
      </p:sp>
      <p:sp>
        <p:nvSpPr>
          <p:cNvPr id="4" name="Text 2"/>
          <p:cNvSpPr/>
          <p:nvPr/>
        </p:nvSpPr>
        <p:spPr>
          <a:xfrm>
            <a:off x="787400" y="152400"/>
            <a:ext cx="14605000" cy="635000"/>
          </a:xfrm>
          <a:prstGeom prst="rect">
            <a:avLst/>
          </a:prstGeom>
          <a:noFill/>
          <a:ln/>
        </p:spPr>
        <p:txBody>
          <a:bodyPr wrap="square" lIns="0" tIns="0" rIns="0" bIns="0" rtlCol="0" anchor="ctr"/>
          <a:lstStyle/>
          <a:p>
            <a:pPr>
              <a:lnSpc>
                <a:spcPct val="100000"/>
              </a:lnSpc>
            </a:pPr>
            <a:r>
              <a:rPr lang="en-US" b="1" dirty="0">
                <a:solidFill>
                  <a:srgbClr val="555555"/>
                </a:solidFill>
                <a:latin typeface="Liter" pitchFamily="34" charset="0"/>
              </a:rPr>
              <a:t>Silver Layer </a:t>
            </a:r>
            <a:r>
              <a:rPr lang="en-US" sz="2200" b="1" dirty="0">
                <a:solidFill>
                  <a:srgbClr val="0F2647"/>
                </a:solidFill>
                <a:latin typeface="Sorts Mill Goudy" pitchFamily="34" charset="0"/>
                <a:ea typeface="Sorts Mill Goudy" pitchFamily="34" charset="-122"/>
                <a:cs typeface="Sorts Mill Goudy" pitchFamily="34" charset="-120"/>
              </a:rPr>
              <a:t>: nettoyage technique et standardisation des données pour préparation analytique</a:t>
            </a:r>
            <a:endParaRPr lang="en-US" sz="1600" dirty="0"/>
          </a:p>
        </p:txBody>
      </p:sp>
      <p:sp>
        <p:nvSpPr>
          <p:cNvPr id="5" name="Shape 3"/>
          <p:cNvSpPr/>
          <p:nvPr/>
        </p:nvSpPr>
        <p:spPr>
          <a:xfrm>
            <a:off x="635000" y="863600"/>
            <a:ext cx="14986000" cy="12700"/>
          </a:xfrm>
          <a:prstGeom prst="rect">
            <a:avLst/>
          </a:prstGeom>
          <a:solidFill>
            <a:srgbClr val="D0D8E4"/>
          </a:solidFill>
          <a:ln/>
        </p:spPr>
      </p:sp>
      <p:sp>
        <p:nvSpPr>
          <p:cNvPr id="6" name="Shape 4"/>
          <p:cNvSpPr/>
          <p:nvPr/>
        </p:nvSpPr>
        <p:spPr>
          <a:xfrm>
            <a:off x="635000" y="965200"/>
            <a:ext cx="7493000" cy="279400"/>
          </a:xfrm>
          <a:prstGeom prst="rect">
            <a:avLst/>
          </a:prstGeom>
          <a:solidFill>
            <a:srgbClr val="EBF0F7"/>
          </a:solidFill>
          <a:ln/>
        </p:spPr>
      </p:sp>
      <p:sp>
        <p:nvSpPr>
          <p:cNvPr id="7" name="Shape 5"/>
          <p:cNvSpPr/>
          <p:nvPr/>
        </p:nvSpPr>
        <p:spPr>
          <a:xfrm>
            <a:off x="635000" y="965200"/>
            <a:ext cx="38100" cy="279400"/>
          </a:xfrm>
          <a:prstGeom prst="rect">
            <a:avLst/>
          </a:prstGeom>
          <a:solidFill>
            <a:srgbClr val="C9963B"/>
          </a:solidFill>
          <a:ln/>
        </p:spPr>
      </p:sp>
      <p:sp>
        <p:nvSpPr>
          <p:cNvPr id="8" name="Text 6"/>
          <p:cNvSpPr/>
          <p:nvPr/>
        </p:nvSpPr>
        <p:spPr>
          <a:xfrm>
            <a:off x="736600" y="965200"/>
            <a:ext cx="7366000" cy="279400"/>
          </a:xfrm>
          <a:prstGeom prst="rect">
            <a:avLst/>
          </a:prstGeom>
          <a:noFill/>
          <a:ln/>
        </p:spPr>
        <p:txBody>
          <a:bodyPr wrap="none" lIns="0" tIns="0" rIns="0" bIns="0" rtlCol="0" anchor="ctr"/>
          <a:lstStyle/>
          <a:p>
            <a:pPr>
              <a:lnSpc>
                <a:spcPct val="100000"/>
              </a:lnSpc>
            </a:pPr>
            <a:r>
              <a:rPr lang="en-US" sz="1300" b="1" dirty="0">
                <a:solidFill>
                  <a:srgbClr val="0F2647"/>
                </a:solidFill>
                <a:latin typeface="Liter" pitchFamily="34" charset="0"/>
                <a:ea typeface="Liter" pitchFamily="34" charset="-122"/>
                <a:cs typeface="Liter" pitchFamily="34" charset="-120"/>
              </a:rPr>
              <a:t>Tables Silver créées avec types normalisés</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35000" y="1295400"/>
          <a:ext cx="7493000" cy="2540000"/>
        </p:xfrm>
        <a:graphic>
          <a:graphicData uri="http://schemas.openxmlformats.org/drawingml/2006/table">
            <a:tbl>
              <a:tblPr/>
              <a:tblGrid>
                <a:gridCol w="2247900">
                  <a:extLst>
                    <a:ext uri="{9D8B030D-6E8A-4147-A177-3AD203B41FA5}">
                      <a16:colId xmlns:a16="http://schemas.microsoft.com/office/drawing/2014/main" val="20000"/>
                    </a:ext>
                  </a:extLst>
                </a:gridCol>
                <a:gridCol w="2847340">
                  <a:extLst>
                    <a:ext uri="{9D8B030D-6E8A-4147-A177-3AD203B41FA5}">
                      <a16:colId xmlns:a16="http://schemas.microsoft.com/office/drawing/2014/main" val="20001"/>
                    </a:ext>
                  </a:extLst>
                </a:gridCol>
                <a:gridCol w="2397760">
                  <a:extLst>
                    <a:ext uri="{9D8B030D-6E8A-4147-A177-3AD203B41FA5}">
                      <a16:colId xmlns:a16="http://schemas.microsoft.com/office/drawing/2014/main" val="20002"/>
                    </a:ext>
                  </a:extLst>
                </a:gridCol>
              </a:tblGrid>
              <a:tr h="508000">
                <a:tc>
                  <a:txBody>
                    <a:bodyPr/>
                    <a:lstStyle/>
                    <a:p>
                      <a:pPr algn="l"/>
                      <a:r>
                        <a:rPr lang="en-US" sz="1300" b="1" u="none" dirty="0">
                          <a:solidFill>
                            <a:srgbClr val="FFFFFF"/>
                          </a:solidFill>
                          <a:latin typeface="Liter" pitchFamily="34" charset="0"/>
                          <a:ea typeface="Liter" pitchFamily="34" charset="-122"/>
                          <a:cs typeface="Liter" pitchFamily="34" charset="-120"/>
                        </a:rPr>
                        <a:t>Table Silver</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1B3A6B"/>
                    </a:solidFill>
                  </a:tcPr>
                </a:tc>
                <a:tc>
                  <a:txBody>
                    <a:bodyPr/>
                    <a:lstStyle/>
                    <a:p>
                      <a:pPr algn="l"/>
                      <a:r>
                        <a:rPr lang="en-US" sz="1300" b="1" u="none" dirty="0">
                          <a:solidFill>
                            <a:srgbClr val="FFFFFF"/>
                          </a:solidFill>
                          <a:latin typeface="Liter" pitchFamily="34" charset="0"/>
                          <a:ea typeface="Liter" pitchFamily="34" charset="-122"/>
                          <a:cs typeface="Liter" pitchFamily="34" charset="-120"/>
                        </a:rPr>
                        <a:t>Type de données</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1B3A6B"/>
                    </a:solidFill>
                  </a:tcPr>
                </a:tc>
                <a:tc>
                  <a:txBody>
                    <a:bodyPr/>
                    <a:lstStyle/>
                    <a:p>
                      <a:pPr algn="l"/>
                      <a:r>
                        <a:rPr lang="en-US" sz="1300" b="1" u="none" dirty="0">
                          <a:solidFill>
                            <a:srgbClr val="FFFFFF"/>
                          </a:solidFill>
                          <a:latin typeface="Liter" pitchFamily="34" charset="0"/>
                          <a:ea typeface="Liter" pitchFamily="34" charset="-122"/>
                          <a:cs typeface="Liter" pitchFamily="34" charset="-120"/>
                        </a:rPr>
                        <a:t>Clé primaire</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508000">
                <a:tc>
                  <a:txBody>
                    <a:bodyPr/>
                    <a:lstStyle/>
                    <a:p>
                      <a:pPr algn="l"/>
                      <a:r>
                        <a:rPr lang="en-US" sz="1300" u="none" dirty="0">
                          <a:solidFill>
                            <a:srgbClr val="2D2D2D"/>
                          </a:solidFill>
                          <a:latin typeface="Liter" pitchFamily="34" charset="0"/>
                          <a:ea typeface="Liter" pitchFamily="34" charset="-122"/>
                          <a:cs typeface="Liter" pitchFamily="34" charset="-120"/>
                        </a:rPr>
                        <a:t>silver.dim_account</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tc>
                  <a:txBody>
                    <a:bodyPr/>
                    <a:lstStyle/>
                    <a:p>
                      <a:pPr algn="l"/>
                      <a:r>
                        <a:rPr lang="en-US" sz="1300" u="none" dirty="0">
                          <a:solidFill>
                            <a:srgbClr val="2D2D2D"/>
                          </a:solidFill>
                          <a:latin typeface="Liter" pitchFamily="34" charset="0"/>
                          <a:ea typeface="Liter" pitchFamily="34" charset="-122"/>
                          <a:cs typeface="Liter" pitchFamily="34" charset="-120"/>
                        </a:rPr>
                        <a:t>INT, NVARCHAR, DECIMAL</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tc>
                  <a:txBody>
                    <a:bodyPr/>
                    <a:lstStyle/>
                    <a:p>
                      <a:pPr algn="l"/>
                      <a:r>
                        <a:rPr lang="en-US" sz="1300" u="none" dirty="0">
                          <a:solidFill>
                            <a:srgbClr val="C9963B"/>
                          </a:solidFill>
                          <a:latin typeface="Liter" pitchFamily="34" charset="0"/>
                          <a:ea typeface="Liter" pitchFamily="34" charset="-122"/>
                          <a:cs typeface="Liter" pitchFamily="34" charset="-120"/>
                        </a:rPr>
                        <a:t>account_number</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8000">
                <a:tc>
                  <a:txBody>
                    <a:bodyPr/>
                    <a:lstStyle/>
                    <a:p>
                      <a:pPr algn="l"/>
                      <a:r>
                        <a:rPr lang="en-US" sz="1300" u="none" dirty="0">
                          <a:solidFill>
                            <a:srgbClr val="2D2D2D"/>
                          </a:solidFill>
                          <a:latin typeface="Liter" pitchFamily="34" charset="0"/>
                          <a:ea typeface="Liter" pitchFamily="34" charset="-122"/>
                          <a:cs typeface="Liter" pitchFamily="34" charset="-120"/>
                        </a:rPr>
                        <a:t>silver.dim_store</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EBF0F7"/>
                    </a:solidFill>
                  </a:tcPr>
                </a:tc>
                <a:tc>
                  <a:txBody>
                    <a:bodyPr/>
                    <a:lstStyle/>
                    <a:p>
                      <a:pPr algn="l"/>
                      <a:r>
                        <a:rPr lang="en-US" sz="1300" u="none" dirty="0">
                          <a:solidFill>
                            <a:srgbClr val="2D2D2D"/>
                          </a:solidFill>
                          <a:latin typeface="Liter" pitchFamily="34" charset="0"/>
                          <a:ea typeface="Liter" pitchFamily="34" charset="-122"/>
                          <a:cs typeface="Liter" pitchFamily="34" charset="-120"/>
                        </a:rPr>
                        <a:t>NVARCHAR(50), NVARCHAR(255)</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EBF0F7"/>
                    </a:solidFill>
                  </a:tcPr>
                </a:tc>
                <a:tc>
                  <a:txBody>
                    <a:bodyPr/>
                    <a:lstStyle/>
                    <a:p>
                      <a:pPr algn="l"/>
                      <a:r>
                        <a:rPr lang="en-US" sz="1300" u="none" dirty="0">
                          <a:solidFill>
                            <a:srgbClr val="C9963B"/>
                          </a:solidFill>
                          <a:latin typeface="Liter" pitchFamily="34" charset="0"/>
                          <a:ea typeface="Liter" pitchFamily="34" charset="-122"/>
                          <a:cs typeface="Liter" pitchFamily="34" charset="-120"/>
                        </a:rPr>
                        <a:t>store_code</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EBF0F7"/>
                    </a:solidFill>
                  </a:tcPr>
                </a:tc>
                <a:extLst>
                  <a:ext uri="{0D108BD9-81ED-4DB2-BD59-A6C34878D82A}">
                    <a16:rowId xmlns:a16="http://schemas.microsoft.com/office/drawing/2014/main" val="10002"/>
                  </a:ext>
                </a:extLst>
              </a:tr>
              <a:tr h="508000">
                <a:tc>
                  <a:txBody>
                    <a:bodyPr/>
                    <a:lstStyle/>
                    <a:p>
                      <a:pPr algn="l"/>
                      <a:r>
                        <a:rPr lang="en-US" sz="1300" u="none" dirty="0">
                          <a:solidFill>
                            <a:srgbClr val="2D2D2D"/>
                          </a:solidFill>
                          <a:latin typeface="Liter" pitchFamily="34" charset="0"/>
                          <a:ea typeface="Liter" pitchFamily="34" charset="-122"/>
                          <a:cs typeface="Liter" pitchFamily="34" charset="-120"/>
                        </a:rPr>
                        <a:t>silver.fact_gl_transaction</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tc>
                  <a:txBody>
                    <a:bodyPr/>
                    <a:lstStyle/>
                    <a:p>
                      <a:pPr algn="l"/>
                      <a:r>
                        <a:rPr lang="en-US" sz="1300" u="none" dirty="0">
                          <a:solidFill>
                            <a:srgbClr val="2D2D2D"/>
                          </a:solidFill>
                          <a:latin typeface="Liter" pitchFamily="34" charset="0"/>
                          <a:ea typeface="Liter" pitchFamily="34" charset="-122"/>
                          <a:cs typeface="Liter" pitchFamily="34" charset="-120"/>
                        </a:rPr>
                        <a:t>INT, DATE, DECIMAL(18,2)</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tc>
                  <a:txBody>
                    <a:bodyPr/>
                    <a:lstStyle/>
                    <a:p>
                      <a:pPr algn="l"/>
                      <a:r>
                        <a:rPr lang="en-US" sz="1300" u="none" dirty="0">
                          <a:solidFill>
                            <a:srgbClr val="C9963B"/>
                          </a:solidFill>
                          <a:latin typeface="Liter" pitchFamily="34" charset="0"/>
                          <a:ea typeface="Liter" pitchFamily="34" charset="-122"/>
                          <a:cs typeface="Liter" pitchFamily="34" charset="-120"/>
                        </a:rPr>
                        <a:t>transaction_id</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8000">
                <a:tc>
                  <a:txBody>
                    <a:bodyPr/>
                    <a:lstStyle/>
                    <a:p>
                      <a:pPr algn="l"/>
                      <a:r>
                        <a:rPr lang="en-US" sz="1300" u="none" dirty="0">
                          <a:solidFill>
                            <a:srgbClr val="2D2D2D"/>
                          </a:solidFill>
                          <a:latin typeface="Liter" pitchFamily="34" charset="0"/>
                          <a:ea typeface="Liter" pitchFamily="34" charset="-122"/>
                          <a:cs typeface="Liter" pitchFamily="34" charset="-120"/>
                        </a:rPr>
                        <a:t>silver.account_mapping</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EBF0F7"/>
                    </a:solidFill>
                  </a:tcPr>
                </a:tc>
                <a:tc>
                  <a:txBody>
                    <a:bodyPr/>
                    <a:lstStyle/>
                    <a:p>
                      <a:pPr algn="l"/>
                      <a:r>
                        <a:rPr lang="en-US" sz="1300" u="none" dirty="0">
                          <a:solidFill>
                            <a:srgbClr val="2D2D2D"/>
                          </a:solidFill>
                          <a:latin typeface="Liter" pitchFamily="34" charset="0"/>
                          <a:ea typeface="Liter" pitchFamily="34" charset="-122"/>
                          <a:cs typeface="Liter" pitchFamily="34" charset="-120"/>
                        </a:rPr>
                        <a:t>INT, NVARCHAR(100)</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EBF0F7"/>
                    </a:solidFill>
                  </a:tcPr>
                </a:tc>
                <a:tc>
                  <a:txBody>
                    <a:bodyPr/>
                    <a:lstStyle/>
                    <a:p>
                      <a:pPr algn="l"/>
                      <a:r>
                        <a:rPr lang="en-US" sz="1300" u="none" dirty="0">
                          <a:solidFill>
                            <a:srgbClr val="2D2D2D"/>
                          </a:solidFill>
                          <a:latin typeface="Liter" pitchFamily="34" charset="0"/>
                          <a:ea typeface="Liter" pitchFamily="34" charset="-122"/>
                          <a:cs typeface="Liter" pitchFamily="34" charset="-120"/>
                        </a:rPr>
                        <a:t>account_number</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EBF0F7"/>
                    </a:solidFill>
                  </a:tcPr>
                </a:tc>
                <a:extLst>
                  <a:ext uri="{0D108BD9-81ED-4DB2-BD59-A6C34878D82A}">
                    <a16:rowId xmlns:a16="http://schemas.microsoft.com/office/drawing/2014/main" val="10004"/>
                  </a:ext>
                </a:extLst>
              </a:tr>
            </a:tbl>
          </a:graphicData>
        </a:graphic>
      </p:graphicFrame>
      <p:sp>
        <p:nvSpPr>
          <p:cNvPr id="10" name="Shape 7"/>
          <p:cNvSpPr/>
          <p:nvPr/>
        </p:nvSpPr>
        <p:spPr>
          <a:xfrm>
            <a:off x="8255000" y="965200"/>
            <a:ext cx="7366000" cy="279400"/>
          </a:xfrm>
          <a:prstGeom prst="rect">
            <a:avLst/>
          </a:prstGeom>
          <a:solidFill>
            <a:srgbClr val="EBF0F7"/>
          </a:solidFill>
          <a:ln/>
        </p:spPr>
      </p:sp>
      <p:sp>
        <p:nvSpPr>
          <p:cNvPr id="11" name="Shape 8"/>
          <p:cNvSpPr/>
          <p:nvPr/>
        </p:nvSpPr>
        <p:spPr>
          <a:xfrm>
            <a:off x="8255000" y="965200"/>
            <a:ext cx="38100" cy="279400"/>
          </a:xfrm>
          <a:prstGeom prst="rect">
            <a:avLst/>
          </a:prstGeom>
          <a:solidFill>
            <a:srgbClr val="C9963B"/>
          </a:solidFill>
          <a:ln/>
        </p:spPr>
      </p:sp>
      <p:sp>
        <p:nvSpPr>
          <p:cNvPr id="12" name="Text 9"/>
          <p:cNvSpPr/>
          <p:nvPr/>
        </p:nvSpPr>
        <p:spPr>
          <a:xfrm>
            <a:off x="8356600" y="965200"/>
            <a:ext cx="7239000" cy="279400"/>
          </a:xfrm>
          <a:prstGeom prst="rect">
            <a:avLst/>
          </a:prstGeom>
          <a:noFill/>
          <a:ln/>
        </p:spPr>
        <p:txBody>
          <a:bodyPr wrap="none" lIns="0" tIns="0" rIns="0" bIns="0" rtlCol="0" anchor="ctr"/>
          <a:lstStyle/>
          <a:p>
            <a:pPr>
              <a:lnSpc>
                <a:spcPct val="100000"/>
              </a:lnSpc>
            </a:pPr>
            <a:r>
              <a:rPr lang="en-US" sz="1300" b="1" dirty="0">
                <a:solidFill>
                  <a:srgbClr val="0F2647"/>
                </a:solidFill>
                <a:latin typeface="Liter" pitchFamily="34" charset="0"/>
                <a:ea typeface="Liter" pitchFamily="34" charset="-122"/>
                <a:cs typeface="Liter" pitchFamily="34" charset="-120"/>
              </a:rPr>
              <a:t>Transformations appliquées</a:t>
            </a:r>
            <a:endParaRPr lang="en-US" sz="1600" dirty="0"/>
          </a:p>
        </p:txBody>
      </p:sp>
      <p:sp>
        <p:nvSpPr>
          <p:cNvPr id="13" name="Text 10"/>
          <p:cNvSpPr/>
          <p:nvPr/>
        </p:nvSpPr>
        <p:spPr>
          <a:xfrm>
            <a:off x="8356600" y="1320800"/>
            <a:ext cx="7137400" cy="2667000"/>
          </a:xfrm>
          <a:prstGeom prst="rect">
            <a:avLst/>
          </a:prstGeom>
          <a:noFill/>
          <a:ln/>
        </p:spPr>
        <p:txBody>
          <a:bodyPr wrap="square" lIns="0" tIns="0" rIns="0" bIns="0" rtlCol="0" anchor="ctr"/>
          <a:lstStyle/>
          <a:p>
            <a:pPr>
              <a:lnSpc>
                <a:spcPct val="140000"/>
              </a:lnSpc>
            </a:pPr>
            <a:r>
              <a:rPr lang="en-US" sz="1400" b="1" dirty="0">
                <a:solidFill>
                  <a:srgbClr val="2D2D2D"/>
                </a:solidFill>
                <a:latin typeface="Liter" pitchFamily="34" charset="0"/>
                <a:ea typeface="Liter" pitchFamily="34" charset="-122"/>
                <a:cs typeface="Liter" pitchFamily="34" charset="-120"/>
              </a:rPr>
              <a:t>Nettoyage technique :</a:t>
            </a:r>
            <a:endParaRPr lang="en-US" sz="1600" dirty="0"/>
          </a:p>
          <a:p>
            <a:pPr>
              <a:lnSpc>
                <a:spcPct val="140000"/>
              </a:lnSpc>
            </a:pPr>
            <a:r>
              <a:rPr lang="en-US" sz="1300" dirty="0">
                <a:solidFill>
                  <a:srgbClr val="555555"/>
                </a:solidFill>
                <a:latin typeface="Liter" pitchFamily="34" charset="0"/>
                <a:ea typeface="Liter" pitchFamily="34" charset="-122"/>
                <a:cs typeface="Liter" pitchFamily="34" charset="-120"/>
              </a:rPr>
              <a:t>■ TRIM() — suppression espaces superflus</a:t>
            </a:r>
            <a:endParaRPr lang="en-US" sz="1600" dirty="0"/>
          </a:p>
          <a:p>
            <a:pPr>
              <a:lnSpc>
                <a:spcPct val="140000"/>
              </a:lnSpc>
            </a:pPr>
            <a:r>
              <a:rPr lang="en-US" sz="1300" dirty="0">
                <a:solidFill>
                  <a:srgbClr val="555555"/>
                </a:solidFill>
                <a:latin typeface="Liter" pitchFamily="34" charset="0"/>
                <a:ea typeface="Liter" pitchFamily="34" charset="-122"/>
                <a:cs typeface="Liter" pitchFamily="34" charset="-120"/>
              </a:rPr>
              <a:t>■ UPPER() — normalisation codes magasins</a:t>
            </a:r>
            <a:endParaRPr lang="en-US" sz="1600" dirty="0"/>
          </a:p>
          <a:p>
            <a:pPr>
              <a:lnSpc>
                <a:spcPct val="140000"/>
              </a:lnSpc>
            </a:pPr>
            <a:r>
              <a:rPr lang="en-US" sz="1300" dirty="0">
                <a:solidFill>
                  <a:srgbClr val="555555"/>
                </a:solidFill>
                <a:latin typeface="Liter" pitchFamily="34" charset="0"/>
                <a:ea typeface="Liter" pitchFamily="34" charset="-122"/>
                <a:cs typeface="Liter" pitchFamily="34" charset="-120"/>
              </a:rPr>
              <a:t>■ CAST() — conversion types de données</a:t>
            </a:r>
            <a:endParaRPr lang="en-US" sz="1600" dirty="0"/>
          </a:p>
          <a:p>
            <a:pPr>
              <a:lnSpc>
                <a:spcPct val="140000"/>
              </a:lnSpc>
            </a:pPr>
            <a:r>
              <a:rPr lang="en-US" sz="1300" dirty="0">
                <a:solidFill>
                  <a:srgbClr val="555555"/>
                </a:solidFill>
                <a:latin typeface="Liter" pitchFamily="34" charset="0"/>
                <a:ea typeface="Liter" pitchFamily="34" charset="-122"/>
                <a:cs typeface="Liter" pitchFamily="34" charset="-120"/>
              </a:rPr>
              <a:t>■ WHERE IS NOT NULL — exclusion valeurs nulles</a:t>
            </a:r>
            <a:endParaRPr lang="en-US" sz="1600" dirty="0"/>
          </a:p>
          <a:p>
            <a:pPr>
              <a:lnSpc>
                <a:spcPct val="140000"/>
              </a:lnSpc>
              <a:spcBef>
                <a:spcPts val="200"/>
              </a:spcBef>
            </a:pPr>
            <a:r>
              <a:rPr lang="en-US" sz="1400" b="1" dirty="0">
                <a:solidFill>
                  <a:srgbClr val="2D2D2D"/>
                </a:solidFill>
                <a:latin typeface="Liter" pitchFamily="34" charset="0"/>
                <a:ea typeface="Liter" pitchFamily="34" charset="-122"/>
                <a:cs typeface="Liter" pitchFamily="34" charset="-120"/>
              </a:rPr>
              <a:t>Standardisation métier :</a:t>
            </a:r>
            <a:endParaRPr lang="en-US" sz="1600" dirty="0"/>
          </a:p>
          <a:p>
            <a:pPr>
              <a:lnSpc>
                <a:spcPct val="140000"/>
              </a:lnSpc>
            </a:pPr>
            <a:r>
              <a:rPr lang="en-US" sz="1300" dirty="0">
                <a:solidFill>
                  <a:srgbClr val="555555"/>
                </a:solidFill>
                <a:latin typeface="Liter" pitchFamily="34" charset="0"/>
                <a:ea typeface="Liter" pitchFamily="34" charset="-122"/>
                <a:cs typeface="Liter" pitchFamily="34" charset="-120"/>
              </a:rPr>
              <a:t>■ "P L" → "P&amp;L" (correction StatementType)</a:t>
            </a:r>
            <a:endParaRPr lang="en-US" sz="1600" dirty="0"/>
          </a:p>
          <a:p>
            <a:pPr>
              <a:lnSpc>
                <a:spcPct val="140000"/>
              </a:lnSpc>
            </a:pPr>
            <a:r>
              <a:rPr lang="en-US" sz="1300" dirty="0">
                <a:solidFill>
                  <a:srgbClr val="555555"/>
                </a:solidFill>
                <a:latin typeface="Liter" pitchFamily="34" charset="0"/>
                <a:ea typeface="Liter" pitchFamily="34" charset="-122"/>
                <a:cs typeface="Liter" pitchFamily="34" charset="-120"/>
              </a:rPr>
              <a:t>■ Fusion store + store_master → dim_store</a:t>
            </a:r>
            <a:endParaRPr lang="en-US" sz="1600" dirty="0"/>
          </a:p>
          <a:p>
            <a:pPr>
              <a:lnSpc>
                <a:spcPct val="140000"/>
              </a:lnSpc>
            </a:pPr>
            <a:r>
              <a:rPr lang="en-US" sz="1300" dirty="0">
                <a:solidFill>
                  <a:srgbClr val="555555"/>
                </a:solidFill>
                <a:latin typeface="Liter" pitchFamily="34" charset="0"/>
                <a:ea typeface="Liter" pitchFamily="34" charset="-122"/>
                <a:cs typeface="Liter" pitchFamily="34" charset="-120"/>
              </a:rPr>
              <a:t>■ GROUP BY — déduplication clé métier</a:t>
            </a:r>
            <a:endParaRPr lang="en-US" sz="1600" dirty="0"/>
          </a:p>
        </p:txBody>
      </p:sp>
      <p:sp>
        <p:nvSpPr>
          <p:cNvPr id="14" name="Shape 11"/>
          <p:cNvSpPr/>
          <p:nvPr/>
        </p:nvSpPr>
        <p:spPr>
          <a:xfrm>
            <a:off x="635000" y="4013200"/>
            <a:ext cx="7493000" cy="279400"/>
          </a:xfrm>
          <a:prstGeom prst="rect">
            <a:avLst/>
          </a:prstGeom>
          <a:solidFill>
            <a:srgbClr val="EBF0F7"/>
          </a:solidFill>
          <a:ln/>
        </p:spPr>
      </p:sp>
      <p:sp>
        <p:nvSpPr>
          <p:cNvPr id="15" name="Shape 12"/>
          <p:cNvSpPr/>
          <p:nvPr/>
        </p:nvSpPr>
        <p:spPr>
          <a:xfrm>
            <a:off x="635000" y="4013200"/>
            <a:ext cx="38100" cy="279400"/>
          </a:xfrm>
          <a:prstGeom prst="rect">
            <a:avLst/>
          </a:prstGeom>
          <a:solidFill>
            <a:srgbClr val="C9963B"/>
          </a:solidFill>
          <a:ln/>
        </p:spPr>
      </p:sp>
      <p:sp>
        <p:nvSpPr>
          <p:cNvPr id="16" name="Text 13"/>
          <p:cNvSpPr/>
          <p:nvPr/>
        </p:nvSpPr>
        <p:spPr>
          <a:xfrm>
            <a:off x="736600" y="4013200"/>
            <a:ext cx="7366000" cy="279400"/>
          </a:xfrm>
          <a:prstGeom prst="rect">
            <a:avLst/>
          </a:prstGeom>
          <a:noFill/>
          <a:ln/>
        </p:spPr>
        <p:txBody>
          <a:bodyPr wrap="none" lIns="0" tIns="0" rIns="0" bIns="0" rtlCol="0" anchor="ctr"/>
          <a:lstStyle/>
          <a:p>
            <a:pPr>
              <a:lnSpc>
                <a:spcPct val="100000"/>
              </a:lnSpc>
            </a:pPr>
            <a:r>
              <a:rPr lang="en-US" sz="1300" b="1" dirty="0">
                <a:solidFill>
                  <a:srgbClr val="0F2647"/>
                </a:solidFill>
                <a:latin typeface="Liter" pitchFamily="34" charset="0"/>
                <a:ea typeface="Liter" pitchFamily="34" charset="-122"/>
                <a:cs typeface="Liter" pitchFamily="34" charset="-120"/>
              </a:rPr>
              <a:t>Data Quality Checks — 4 tests</a:t>
            </a:r>
            <a:endParaRPr lang="en-US" sz="1600" dirty="0"/>
          </a:p>
        </p:txBody>
      </p:sp>
      <p:sp>
        <p:nvSpPr>
          <p:cNvPr id="17" name="Text 14"/>
          <p:cNvSpPr/>
          <p:nvPr/>
        </p:nvSpPr>
        <p:spPr>
          <a:xfrm>
            <a:off x="736600" y="4368800"/>
            <a:ext cx="7264400" cy="3810000"/>
          </a:xfrm>
          <a:prstGeom prst="rect">
            <a:avLst/>
          </a:prstGeom>
          <a:noFill/>
          <a:ln/>
        </p:spPr>
        <p:txBody>
          <a:bodyPr wrap="square" lIns="0" tIns="0" rIns="0" bIns="0" rtlCol="0" anchor="ctr"/>
          <a:lstStyle/>
          <a:p>
            <a:pPr>
              <a:lnSpc>
                <a:spcPct val="150000"/>
              </a:lnSpc>
            </a:pPr>
            <a:r>
              <a:rPr lang="en-US" sz="1400" b="1" dirty="0">
                <a:solidFill>
                  <a:srgbClr val="2D2D2D"/>
                </a:solidFill>
                <a:latin typeface="Liter" pitchFamily="34" charset="0"/>
                <a:ea typeface="Liter" pitchFamily="34" charset="-122"/>
                <a:cs typeface="Liter" pitchFamily="34" charset="-120"/>
              </a:rPr>
              <a:t>1. Test de Complétude (Bronze vs Silver)</a:t>
            </a:r>
            <a:endParaRPr lang="en-US" sz="1600" dirty="0"/>
          </a:p>
          <a:p>
            <a:pPr>
              <a:lnSpc>
                <a:spcPct val="150000"/>
              </a:lnSpc>
            </a:pPr>
            <a:r>
              <a:rPr lang="en-US" sz="1300" dirty="0">
                <a:solidFill>
                  <a:srgbClr val="555555"/>
                </a:solidFill>
                <a:latin typeface="Liter" pitchFamily="34" charset="0"/>
                <a:ea typeface="Liter" pitchFamily="34" charset="-122"/>
                <a:cs typeface="Liter" pitchFamily="34" charset="-120"/>
              </a:rPr>
              <a:t>■ COUNT bronze.gl_transaction = COUNT silver.fact_gl_transaction</a:t>
            </a:r>
            <a:endParaRPr lang="en-US" sz="1600" dirty="0"/>
          </a:p>
          <a:p>
            <a:pPr>
              <a:lnSpc>
                <a:spcPct val="150000"/>
              </a:lnSpc>
              <a:spcBef>
                <a:spcPts val="400"/>
              </a:spcBef>
            </a:pPr>
            <a:r>
              <a:rPr lang="en-US" sz="1400" b="1" dirty="0">
                <a:solidFill>
                  <a:srgbClr val="2D2D2D"/>
                </a:solidFill>
                <a:latin typeface="Liter" pitchFamily="34" charset="0"/>
                <a:ea typeface="Liter" pitchFamily="34" charset="-122"/>
                <a:cs typeface="Liter" pitchFamily="34" charset="-120"/>
              </a:rPr>
              <a:t>2. Test d'Unicité (Doublons)</a:t>
            </a:r>
            <a:endParaRPr lang="en-US" sz="1600" dirty="0"/>
          </a:p>
          <a:p>
            <a:pPr>
              <a:lnSpc>
                <a:spcPct val="150000"/>
              </a:lnSpc>
            </a:pPr>
            <a:r>
              <a:rPr lang="en-US" sz="1300" dirty="0">
                <a:solidFill>
                  <a:srgbClr val="555555"/>
                </a:solidFill>
                <a:latin typeface="Liter" pitchFamily="34" charset="0"/>
                <a:ea typeface="Liter" pitchFamily="34" charset="-122"/>
                <a:cs typeface="Liter" pitchFamily="34" charset="-120"/>
              </a:rPr>
              <a:t>■ GROUP BY transaction_id HAVING COUNT(*) &gt; 1 → 0 doublon</a:t>
            </a:r>
            <a:endParaRPr lang="en-US" sz="1600" dirty="0"/>
          </a:p>
          <a:p>
            <a:pPr>
              <a:lnSpc>
                <a:spcPct val="150000"/>
              </a:lnSpc>
              <a:spcBef>
                <a:spcPts val="400"/>
              </a:spcBef>
            </a:pPr>
            <a:r>
              <a:rPr lang="en-US" sz="1400" b="1" dirty="0">
                <a:solidFill>
                  <a:srgbClr val="2D2D2D"/>
                </a:solidFill>
                <a:latin typeface="Liter" pitchFamily="34" charset="0"/>
                <a:ea typeface="Liter" pitchFamily="34" charset="-122"/>
                <a:cs typeface="Liter" pitchFamily="34" charset="-120"/>
              </a:rPr>
              <a:t>3. Test de Validité (Valeurs nulles)</a:t>
            </a:r>
            <a:endParaRPr lang="en-US" sz="1600" dirty="0"/>
          </a:p>
          <a:p>
            <a:pPr>
              <a:lnSpc>
                <a:spcPct val="150000"/>
              </a:lnSpc>
            </a:pPr>
            <a:r>
              <a:rPr lang="en-US" sz="1300" dirty="0">
                <a:solidFill>
                  <a:srgbClr val="555555"/>
                </a:solidFill>
                <a:latin typeface="Liter" pitchFamily="34" charset="0"/>
                <a:ea typeface="Liter" pitchFamily="34" charset="-122"/>
                <a:cs typeface="Liter" pitchFamily="34" charset="-120"/>
              </a:rPr>
              <a:t>■ WHERE amount_local IS NULL → 0 valeur manquante</a:t>
            </a:r>
            <a:endParaRPr lang="en-US" sz="1600" dirty="0"/>
          </a:p>
          <a:p>
            <a:pPr>
              <a:lnSpc>
                <a:spcPct val="150000"/>
              </a:lnSpc>
              <a:spcBef>
                <a:spcPts val="400"/>
              </a:spcBef>
            </a:pPr>
            <a:r>
              <a:rPr lang="en-US" sz="1400" b="1" dirty="0">
                <a:solidFill>
                  <a:srgbClr val="2D2D2D"/>
                </a:solidFill>
                <a:latin typeface="Liter" pitchFamily="34" charset="0"/>
                <a:ea typeface="Liter" pitchFamily="34" charset="-122"/>
                <a:cs typeface="Liter" pitchFamily="34" charset="-120"/>
              </a:rPr>
              <a:t>4. Test d'Intégrité Référentielle</a:t>
            </a:r>
            <a:endParaRPr lang="en-US" sz="1600" dirty="0"/>
          </a:p>
          <a:p>
            <a:pPr>
              <a:lnSpc>
                <a:spcPct val="150000"/>
              </a:lnSpc>
            </a:pPr>
            <a:r>
              <a:rPr lang="en-US" sz="1300" dirty="0">
                <a:solidFill>
                  <a:srgbClr val="555555"/>
                </a:solidFill>
                <a:latin typeface="Liter" pitchFamily="34" charset="0"/>
                <a:ea typeface="Liter" pitchFamily="34" charset="-122"/>
                <a:cs typeface="Liter" pitchFamily="34" charset="-120"/>
              </a:rPr>
              <a:t>■ Vérification clés étrangères store_code → dim_store</a:t>
            </a:r>
            <a:endParaRPr lang="en-US" sz="1600" dirty="0"/>
          </a:p>
          <a:p>
            <a:pPr>
              <a:lnSpc>
                <a:spcPct val="150000"/>
              </a:lnSpc>
              <a:spcBef>
                <a:spcPts val="800"/>
              </a:spcBef>
            </a:pPr>
            <a:r>
              <a:rPr lang="en-US" sz="1300" b="1" dirty="0">
                <a:solidFill>
                  <a:srgbClr val="C9963B"/>
                </a:solidFill>
                <a:latin typeface="Liter" pitchFamily="34" charset="0"/>
                <a:ea typeface="Liter" pitchFamily="34" charset="-122"/>
                <a:cs typeface="Liter" pitchFamily="34" charset="-120"/>
              </a:rPr>
              <a:t>Résultat : 4/4 tests validés ✓</a:t>
            </a:r>
            <a:endParaRPr lang="en-US" sz="1600" dirty="0"/>
          </a:p>
        </p:txBody>
      </p:sp>
      <p:sp>
        <p:nvSpPr>
          <p:cNvPr id="18" name="Shape 15"/>
          <p:cNvSpPr/>
          <p:nvPr/>
        </p:nvSpPr>
        <p:spPr>
          <a:xfrm>
            <a:off x="8255000" y="4013200"/>
            <a:ext cx="7366000" cy="279400"/>
          </a:xfrm>
          <a:prstGeom prst="rect">
            <a:avLst/>
          </a:prstGeom>
          <a:solidFill>
            <a:srgbClr val="EBF0F7"/>
          </a:solidFill>
          <a:ln/>
        </p:spPr>
      </p:sp>
      <p:sp>
        <p:nvSpPr>
          <p:cNvPr id="19" name="Shape 16"/>
          <p:cNvSpPr/>
          <p:nvPr/>
        </p:nvSpPr>
        <p:spPr>
          <a:xfrm>
            <a:off x="8255000" y="4013200"/>
            <a:ext cx="38100" cy="279400"/>
          </a:xfrm>
          <a:prstGeom prst="rect">
            <a:avLst/>
          </a:prstGeom>
          <a:solidFill>
            <a:srgbClr val="C9963B"/>
          </a:solidFill>
          <a:ln/>
        </p:spPr>
      </p:sp>
      <p:sp>
        <p:nvSpPr>
          <p:cNvPr id="20" name="Text 17"/>
          <p:cNvSpPr/>
          <p:nvPr/>
        </p:nvSpPr>
        <p:spPr>
          <a:xfrm>
            <a:off x="8356600" y="4013200"/>
            <a:ext cx="7239000" cy="279400"/>
          </a:xfrm>
          <a:prstGeom prst="rect">
            <a:avLst/>
          </a:prstGeom>
          <a:noFill/>
          <a:ln/>
        </p:spPr>
        <p:txBody>
          <a:bodyPr wrap="none" lIns="0" tIns="0" rIns="0" bIns="0" rtlCol="0" anchor="ctr"/>
          <a:lstStyle/>
          <a:p>
            <a:pPr>
              <a:lnSpc>
                <a:spcPct val="100000"/>
              </a:lnSpc>
            </a:pPr>
            <a:r>
              <a:rPr lang="en-US" sz="1300" b="1" dirty="0">
                <a:solidFill>
                  <a:srgbClr val="0F2647"/>
                </a:solidFill>
                <a:latin typeface="Liter" pitchFamily="34" charset="0"/>
                <a:ea typeface="Liter" pitchFamily="34" charset="-122"/>
                <a:cs typeface="Liter" pitchFamily="34" charset="-120"/>
              </a:rPr>
              <a:t>Exemple SQL — Fusion des magasins</a:t>
            </a:r>
            <a:endParaRPr lang="en-US" sz="1600" dirty="0"/>
          </a:p>
        </p:txBody>
      </p:sp>
      <p:sp>
        <p:nvSpPr>
          <p:cNvPr id="21" name="Text 18"/>
          <p:cNvSpPr/>
          <p:nvPr/>
        </p:nvSpPr>
        <p:spPr>
          <a:xfrm>
            <a:off x="8356600" y="4368800"/>
            <a:ext cx="7137400" cy="3810000"/>
          </a:xfrm>
          <a:prstGeom prst="rect">
            <a:avLst/>
          </a:prstGeom>
          <a:noFill/>
          <a:ln/>
        </p:spPr>
        <p:txBody>
          <a:bodyPr wrap="square" lIns="0" tIns="0" rIns="0" bIns="0" rtlCol="0" anchor="ctr"/>
          <a:lstStyle/>
          <a:p>
            <a:pPr>
              <a:lnSpc>
                <a:spcPct val="150000"/>
              </a:lnSpc>
            </a:pPr>
            <a:r>
              <a:rPr lang="en-US" sz="1300" b="1" dirty="0">
                <a:solidFill>
                  <a:srgbClr val="2D2D2D"/>
                </a:solidFill>
                <a:latin typeface="Liter" pitchFamily="34" charset="0"/>
                <a:ea typeface="Liter" pitchFamily="34" charset="-122"/>
                <a:cs typeface="Liter" pitchFamily="34" charset="-120"/>
              </a:rPr>
              <a:t>INSERT INTO silver.dim_store</a:t>
            </a:r>
            <a:endParaRPr lang="en-US" sz="1600" dirty="0"/>
          </a:p>
          <a:p>
            <a:pPr>
              <a:lnSpc>
                <a:spcPct val="150000"/>
              </a:lnSpc>
            </a:pPr>
            <a:r>
              <a:rPr lang="en-US" sz="1200" dirty="0">
                <a:solidFill>
                  <a:srgbClr val="555555"/>
                </a:solidFill>
                <a:latin typeface="Liter" pitchFamily="34" charset="0"/>
                <a:ea typeface="Liter" pitchFamily="34" charset="-122"/>
                <a:cs typeface="Liter" pitchFamily="34" charset="-120"/>
              </a:rPr>
              <a:t>SELECT</a:t>
            </a:r>
            <a:endParaRPr lang="en-US" sz="1600" dirty="0"/>
          </a:p>
          <a:p>
            <a:pPr>
              <a:lnSpc>
                <a:spcPct val="150000"/>
              </a:lnSpc>
            </a:pPr>
            <a:r>
              <a:rPr lang="en-US" sz="1200" dirty="0">
                <a:solidFill>
                  <a:srgbClr val="555555"/>
                </a:solidFill>
                <a:latin typeface="Liter" pitchFamily="34" charset="0"/>
                <a:ea typeface="Liter" pitchFamily="34" charset="-122"/>
                <a:cs typeface="Liter" pitchFamily="34" charset="-120"/>
              </a:rPr>
              <a:t>TRIM(UPPER(m.store_code)),</a:t>
            </a:r>
            <a:endParaRPr lang="en-US" sz="1600" dirty="0"/>
          </a:p>
          <a:p>
            <a:pPr>
              <a:lnSpc>
                <a:spcPct val="150000"/>
              </a:lnSpc>
            </a:pPr>
            <a:r>
              <a:rPr lang="en-US" sz="1200" dirty="0">
                <a:solidFill>
                  <a:srgbClr val="555555"/>
                </a:solidFill>
                <a:latin typeface="Liter" pitchFamily="34" charset="0"/>
                <a:ea typeface="Liter" pitchFamily="34" charset="-122"/>
                <a:cs typeface="Liter" pitchFamily="34" charset="-120"/>
              </a:rPr>
              <a:t>TRIM(m.store_name),</a:t>
            </a:r>
            <a:endParaRPr lang="en-US" sz="1600" dirty="0"/>
          </a:p>
          <a:p>
            <a:pPr>
              <a:lnSpc>
                <a:spcPct val="150000"/>
              </a:lnSpc>
            </a:pPr>
            <a:r>
              <a:rPr lang="en-US" sz="1200" dirty="0">
                <a:solidFill>
                  <a:srgbClr val="555555"/>
                </a:solidFill>
                <a:latin typeface="Liter" pitchFamily="34" charset="0"/>
                <a:ea typeface="Liter" pitchFamily="34" charset="-122"/>
                <a:cs typeface="Liter" pitchFamily="34" charset="-120"/>
              </a:rPr>
              <a:t>TRIM(m.store_type),</a:t>
            </a:r>
            <a:endParaRPr lang="en-US" sz="1600" dirty="0"/>
          </a:p>
          <a:p>
            <a:pPr>
              <a:lnSpc>
                <a:spcPct val="150000"/>
              </a:lnSpc>
            </a:pPr>
            <a:r>
              <a:rPr lang="en-US" sz="1200" dirty="0">
                <a:solidFill>
                  <a:srgbClr val="555555"/>
                </a:solidFill>
                <a:latin typeface="Liter" pitchFamily="34" charset="0"/>
                <a:ea typeface="Liter" pitchFamily="34" charset="-122"/>
                <a:cs typeface="Liter" pitchFamily="34" charset="-120"/>
              </a:rPr>
              <a:t>TRIM(s.country),</a:t>
            </a:r>
            <a:endParaRPr lang="en-US" sz="1600" dirty="0"/>
          </a:p>
          <a:p>
            <a:pPr>
              <a:lnSpc>
                <a:spcPct val="150000"/>
              </a:lnSpc>
            </a:pPr>
            <a:r>
              <a:rPr lang="en-US" sz="1200" dirty="0">
                <a:solidFill>
                  <a:srgbClr val="555555"/>
                </a:solidFill>
                <a:latin typeface="Liter" pitchFamily="34" charset="0"/>
                <a:ea typeface="Liter" pitchFamily="34" charset="-122"/>
                <a:cs typeface="Liter" pitchFamily="34" charset="-120"/>
              </a:rPr>
              <a:t>TRIM(s.region)</a:t>
            </a:r>
            <a:endParaRPr lang="en-US" sz="1600" dirty="0"/>
          </a:p>
          <a:p>
            <a:pPr>
              <a:lnSpc>
                <a:spcPct val="150000"/>
              </a:lnSpc>
            </a:pPr>
            <a:r>
              <a:rPr lang="en-US" sz="1200" dirty="0">
                <a:solidFill>
                  <a:srgbClr val="555555"/>
                </a:solidFill>
                <a:latin typeface="Liter" pitchFamily="34" charset="0"/>
                <a:ea typeface="Liter" pitchFamily="34" charset="-122"/>
                <a:cs typeface="Liter" pitchFamily="34" charset="-120"/>
              </a:rPr>
              <a:t>FROM bronze.store_master m</a:t>
            </a:r>
            <a:endParaRPr lang="en-US" sz="1600" dirty="0"/>
          </a:p>
          <a:p>
            <a:pPr>
              <a:lnSpc>
                <a:spcPct val="150000"/>
              </a:lnSpc>
            </a:pPr>
            <a:r>
              <a:rPr lang="en-US" sz="1200" dirty="0">
                <a:solidFill>
                  <a:srgbClr val="555555"/>
                </a:solidFill>
                <a:latin typeface="Liter" pitchFamily="34" charset="0"/>
                <a:ea typeface="Liter" pitchFamily="34" charset="-122"/>
                <a:cs typeface="Liter" pitchFamily="34" charset="-120"/>
              </a:rPr>
              <a:t>LEFT JOIN bronze.store s</a:t>
            </a:r>
            <a:endParaRPr lang="en-US" sz="1600" dirty="0"/>
          </a:p>
          <a:p>
            <a:pPr>
              <a:lnSpc>
                <a:spcPct val="150000"/>
              </a:lnSpc>
            </a:pPr>
            <a:r>
              <a:rPr lang="en-US" sz="1200" dirty="0">
                <a:solidFill>
                  <a:srgbClr val="555555"/>
                </a:solidFill>
                <a:latin typeface="Liter" pitchFamily="34" charset="0"/>
                <a:ea typeface="Liter" pitchFamily="34" charset="-122"/>
                <a:cs typeface="Liter" pitchFamily="34" charset="-120"/>
              </a:rPr>
              <a:t>ON m.store_code = s.store_code;</a:t>
            </a:r>
            <a:endParaRPr lang="en-US" sz="1600" dirty="0"/>
          </a:p>
          <a:p>
            <a:pPr>
              <a:lnSpc>
                <a:spcPct val="150000"/>
              </a:lnSpc>
              <a:spcBef>
                <a:spcPts val="800"/>
              </a:spcBef>
            </a:pPr>
            <a:r>
              <a:rPr lang="en-US" sz="1300" b="1" dirty="0">
                <a:solidFill>
                  <a:srgbClr val="C9963B"/>
                </a:solidFill>
                <a:latin typeface="Liter" pitchFamily="34" charset="0"/>
                <a:ea typeface="Liter" pitchFamily="34" charset="-122"/>
                <a:cs typeface="Liter" pitchFamily="34" charset="-120"/>
              </a:rPr>
              <a:t>LEFT JOIN : conserve tous les magasins</a:t>
            </a:r>
            <a:endParaRPr lang="en-US" sz="1600" dirty="0"/>
          </a:p>
        </p:txBody>
      </p:sp>
      <p:sp>
        <p:nvSpPr>
          <p:cNvPr id="22" name="Shape 19"/>
          <p:cNvSpPr/>
          <p:nvPr/>
        </p:nvSpPr>
        <p:spPr>
          <a:xfrm>
            <a:off x="635000" y="8331200"/>
            <a:ext cx="14986000" cy="12700"/>
          </a:xfrm>
          <a:prstGeom prst="rect">
            <a:avLst/>
          </a:prstGeom>
          <a:solidFill>
            <a:srgbClr val="D0D8E4"/>
          </a:solidFill>
          <a:ln/>
        </p:spPr>
      </p:sp>
      <p:sp>
        <p:nvSpPr>
          <p:cNvPr id="23" name="Text 20"/>
          <p:cNvSpPr/>
          <p:nvPr/>
        </p:nvSpPr>
        <p:spPr>
          <a:xfrm>
            <a:off x="15240000" y="8432800"/>
            <a:ext cx="762000" cy="279400"/>
          </a:xfrm>
          <a:prstGeom prst="rect">
            <a:avLst/>
          </a:prstGeom>
          <a:noFill/>
          <a:ln/>
        </p:spPr>
        <p:txBody>
          <a:bodyPr wrap="none" lIns="0" tIns="0" rIns="0" bIns="0" rtlCol="0" anchor="ctr"/>
          <a:lstStyle/>
          <a:p>
            <a:pPr algn="r">
              <a:lnSpc>
                <a:spcPct val="100000"/>
              </a:lnSpc>
            </a:pPr>
            <a:r>
              <a:rPr lang="en-US" sz="1200" dirty="0">
                <a:solidFill>
                  <a:srgbClr val="8899AA"/>
                </a:solidFill>
                <a:latin typeface="微软雅黑" pitchFamily="34" charset="0"/>
                <a:ea typeface="微软雅黑" pitchFamily="34" charset="-122"/>
                <a:cs typeface="微软雅黑" pitchFamily="34" charset="-120"/>
              </a:rPr>
              <a:t>04</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1B3A6B"/>
          </a:solidFill>
          <a:ln/>
        </p:spPr>
      </p:sp>
      <p:sp>
        <p:nvSpPr>
          <p:cNvPr id="3" name="Shape 1"/>
          <p:cNvSpPr/>
          <p:nvPr/>
        </p:nvSpPr>
        <p:spPr>
          <a:xfrm>
            <a:off x="635000" y="127000"/>
            <a:ext cx="50800" cy="685800"/>
          </a:xfrm>
          <a:prstGeom prst="rect">
            <a:avLst/>
          </a:prstGeom>
          <a:solidFill>
            <a:srgbClr val="C9963B"/>
          </a:solidFill>
          <a:ln/>
        </p:spPr>
      </p:sp>
      <p:sp>
        <p:nvSpPr>
          <p:cNvPr id="4" name="Text 2"/>
          <p:cNvSpPr/>
          <p:nvPr/>
        </p:nvSpPr>
        <p:spPr>
          <a:xfrm>
            <a:off x="787400" y="152400"/>
            <a:ext cx="14605000" cy="635000"/>
          </a:xfrm>
          <a:prstGeom prst="rect">
            <a:avLst/>
          </a:prstGeom>
          <a:noFill/>
          <a:ln/>
        </p:spPr>
        <p:txBody>
          <a:bodyPr wrap="square" lIns="0" tIns="0" rIns="0" bIns="0" rtlCol="0" anchor="ctr"/>
          <a:lstStyle/>
          <a:p>
            <a:pPr>
              <a:lnSpc>
                <a:spcPct val="100000"/>
              </a:lnSpc>
            </a:pPr>
            <a:r>
              <a:rPr lang="en-US" sz="2000" b="1" dirty="0">
                <a:solidFill>
                  <a:schemeClr val="accent2">
                    <a:lumMod val="75000"/>
                  </a:schemeClr>
                </a:solidFill>
                <a:latin typeface="Liter" pitchFamily="34" charset="0"/>
              </a:rPr>
              <a:t>Gold Layer </a:t>
            </a:r>
            <a:r>
              <a:rPr lang="en-US" sz="2200" b="1" dirty="0">
                <a:solidFill>
                  <a:srgbClr val="0F2647"/>
                </a:solidFill>
                <a:latin typeface="Sorts Mill Goudy" pitchFamily="34" charset="0"/>
                <a:ea typeface="Sorts Mill Goudy" pitchFamily="34" charset="-122"/>
                <a:cs typeface="Sorts Mill Goudy" pitchFamily="34" charset="-120"/>
              </a:rPr>
              <a:t>: modèle en étoile avec 2 dimensions et 1 table de faits pour analyse financière</a:t>
            </a:r>
            <a:endParaRPr lang="en-US" sz="1600" dirty="0"/>
          </a:p>
        </p:txBody>
      </p:sp>
      <p:sp>
        <p:nvSpPr>
          <p:cNvPr id="5" name="Shape 3"/>
          <p:cNvSpPr/>
          <p:nvPr/>
        </p:nvSpPr>
        <p:spPr>
          <a:xfrm>
            <a:off x="635000" y="863600"/>
            <a:ext cx="14986000" cy="12700"/>
          </a:xfrm>
          <a:prstGeom prst="rect">
            <a:avLst/>
          </a:prstGeom>
          <a:solidFill>
            <a:srgbClr val="D0D8E4"/>
          </a:solidFill>
          <a:ln/>
        </p:spPr>
      </p:sp>
      <p:sp>
        <p:nvSpPr>
          <p:cNvPr id="6" name="Shape 4"/>
          <p:cNvSpPr/>
          <p:nvPr/>
        </p:nvSpPr>
        <p:spPr>
          <a:xfrm>
            <a:off x="635000" y="1016000"/>
            <a:ext cx="4699000" cy="1143000"/>
          </a:xfrm>
          <a:prstGeom prst="rect">
            <a:avLst/>
          </a:prstGeom>
          <a:solidFill>
            <a:srgbClr val="EBF0F7"/>
          </a:solidFill>
          <a:ln/>
        </p:spPr>
      </p:sp>
      <p:sp>
        <p:nvSpPr>
          <p:cNvPr id="7" name="Shape 5"/>
          <p:cNvSpPr/>
          <p:nvPr/>
        </p:nvSpPr>
        <p:spPr>
          <a:xfrm>
            <a:off x="635000" y="1016000"/>
            <a:ext cx="4699000" cy="38100"/>
          </a:xfrm>
          <a:prstGeom prst="rect">
            <a:avLst/>
          </a:prstGeom>
          <a:solidFill>
            <a:srgbClr val="1B3A6B"/>
          </a:solidFill>
          <a:ln/>
        </p:spPr>
      </p:sp>
      <p:sp>
        <p:nvSpPr>
          <p:cNvPr id="8" name="Text 6"/>
          <p:cNvSpPr/>
          <p:nvPr/>
        </p:nvSpPr>
        <p:spPr>
          <a:xfrm>
            <a:off x="787400" y="1117600"/>
            <a:ext cx="4394200" cy="508000"/>
          </a:xfrm>
          <a:prstGeom prst="rect">
            <a:avLst/>
          </a:prstGeom>
          <a:noFill/>
          <a:ln/>
        </p:spPr>
        <p:txBody>
          <a:bodyPr wrap="none" lIns="0" tIns="0" rIns="0" bIns="0" rtlCol="0" anchor="ctr"/>
          <a:lstStyle/>
          <a:p>
            <a:pPr>
              <a:lnSpc>
                <a:spcPct val="100000"/>
              </a:lnSpc>
            </a:pPr>
            <a:r>
              <a:rPr lang="en-US" sz="2800" b="1" dirty="0">
                <a:solidFill>
                  <a:srgbClr val="1B3A6B"/>
                </a:solidFill>
                <a:latin typeface="Sorts Mill Goudy" pitchFamily="34" charset="0"/>
                <a:ea typeface="Sorts Mill Goudy" pitchFamily="34" charset="-122"/>
                <a:cs typeface="Sorts Mill Goudy" pitchFamily="34" charset="-120"/>
              </a:rPr>
              <a:t>2</a:t>
            </a:r>
            <a:r>
              <a:rPr lang="en-US" sz="1600" dirty="0">
                <a:solidFill>
                  <a:srgbClr val="000000"/>
                </a:solidFill>
                <a:latin typeface="微软雅黑" pitchFamily="34" charset="0"/>
                <a:ea typeface="微软雅黑" pitchFamily="34" charset="-122"/>
                <a:cs typeface="微软雅黑" pitchFamily="34" charset="-120"/>
              </a:rPr>
              <a:t> </a:t>
            </a:r>
            <a:r>
              <a:rPr lang="en-US" sz="1600" dirty="0">
                <a:solidFill>
                  <a:srgbClr val="2D2D2D"/>
                </a:solidFill>
                <a:latin typeface="Liter" pitchFamily="34" charset="0"/>
                <a:ea typeface="Liter" pitchFamily="34" charset="-122"/>
                <a:cs typeface="Liter" pitchFamily="34" charset="-120"/>
              </a:rPr>
              <a:t>Dimensions</a:t>
            </a:r>
            <a:endParaRPr lang="en-US" sz="1600" dirty="0"/>
          </a:p>
        </p:txBody>
      </p:sp>
      <p:sp>
        <p:nvSpPr>
          <p:cNvPr id="9" name="Text 7"/>
          <p:cNvSpPr/>
          <p:nvPr/>
        </p:nvSpPr>
        <p:spPr>
          <a:xfrm>
            <a:off x="787400" y="1651000"/>
            <a:ext cx="4394200" cy="406400"/>
          </a:xfrm>
          <a:prstGeom prst="rect">
            <a:avLst/>
          </a:prstGeom>
          <a:noFill/>
          <a:ln/>
        </p:spPr>
        <p:txBody>
          <a:bodyPr wrap="none" lIns="0" tIns="0" rIns="0" bIns="0" rtlCol="0" anchor="ctr"/>
          <a:lstStyle/>
          <a:p>
            <a:pPr>
              <a:lnSpc>
                <a:spcPct val="100000"/>
              </a:lnSpc>
            </a:pPr>
            <a:r>
              <a:rPr lang="en-US" sz="1200" dirty="0">
                <a:solidFill>
                  <a:srgbClr val="555555"/>
                </a:solidFill>
                <a:latin typeface="Liter" pitchFamily="34" charset="0"/>
                <a:ea typeface="Liter" pitchFamily="34" charset="-122"/>
                <a:cs typeface="Liter" pitchFamily="34" charset="-120"/>
              </a:rPr>
              <a:t>dim_account · dim_store</a:t>
            </a:r>
            <a:endParaRPr lang="en-US" sz="1600" dirty="0"/>
          </a:p>
        </p:txBody>
      </p:sp>
      <p:sp>
        <p:nvSpPr>
          <p:cNvPr id="10" name="Shape 8"/>
          <p:cNvSpPr/>
          <p:nvPr/>
        </p:nvSpPr>
        <p:spPr>
          <a:xfrm>
            <a:off x="5524500" y="1016000"/>
            <a:ext cx="4699000" cy="1143000"/>
          </a:xfrm>
          <a:prstGeom prst="rect">
            <a:avLst/>
          </a:prstGeom>
          <a:solidFill>
            <a:srgbClr val="EBF0F7"/>
          </a:solidFill>
          <a:ln/>
        </p:spPr>
      </p:sp>
      <p:sp>
        <p:nvSpPr>
          <p:cNvPr id="11" name="Shape 9"/>
          <p:cNvSpPr/>
          <p:nvPr/>
        </p:nvSpPr>
        <p:spPr>
          <a:xfrm>
            <a:off x="5524500" y="1016000"/>
            <a:ext cx="4699000" cy="38100"/>
          </a:xfrm>
          <a:prstGeom prst="rect">
            <a:avLst/>
          </a:prstGeom>
          <a:solidFill>
            <a:srgbClr val="C9963B"/>
          </a:solidFill>
          <a:ln/>
        </p:spPr>
      </p:sp>
      <p:sp>
        <p:nvSpPr>
          <p:cNvPr id="12" name="Text 10"/>
          <p:cNvSpPr/>
          <p:nvPr/>
        </p:nvSpPr>
        <p:spPr>
          <a:xfrm>
            <a:off x="5676900" y="1117600"/>
            <a:ext cx="4394200" cy="508000"/>
          </a:xfrm>
          <a:prstGeom prst="rect">
            <a:avLst/>
          </a:prstGeom>
          <a:noFill/>
          <a:ln/>
        </p:spPr>
        <p:txBody>
          <a:bodyPr wrap="none" lIns="0" tIns="0" rIns="0" bIns="0" rtlCol="0" anchor="ctr"/>
          <a:lstStyle/>
          <a:p>
            <a:pPr>
              <a:lnSpc>
                <a:spcPct val="100000"/>
              </a:lnSpc>
            </a:pPr>
            <a:r>
              <a:rPr lang="en-US" sz="2800" b="1" dirty="0">
                <a:solidFill>
                  <a:srgbClr val="C9963B"/>
                </a:solidFill>
                <a:latin typeface="Sorts Mill Goudy" pitchFamily="34" charset="0"/>
                <a:ea typeface="Sorts Mill Goudy" pitchFamily="34" charset="-122"/>
                <a:cs typeface="Sorts Mill Goudy" pitchFamily="34" charset="-120"/>
              </a:rPr>
              <a:t>1</a:t>
            </a:r>
            <a:r>
              <a:rPr lang="en-US" sz="1600" dirty="0">
                <a:solidFill>
                  <a:srgbClr val="000000"/>
                </a:solidFill>
                <a:latin typeface="微软雅黑" pitchFamily="34" charset="0"/>
                <a:ea typeface="微软雅黑" pitchFamily="34" charset="-122"/>
                <a:cs typeface="微软雅黑" pitchFamily="34" charset="-120"/>
              </a:rPr>
              <a:t> </a:t>
            </a:r>
            <a:r>
              <a:rPr lang="en-US" sz="1600" dirty="0">
                <a:solidFill>
                  <a:srgbClr val="2D2D2D"/>
                </a:solidFill>
                <a:latin typeface="Liter" pitchFamily="34" charset="0"/>
                <a:ea typeface="Liter" pitchFamily="34" charset="-122"/>
                <a:cs typeface="Liter" pitchFamily="34" charset="-120"/>
              </a:rPr>
              <a:t>Table de faits</a:t>
            </a:r>
            <a:endParaRPr lang="en-US" sz="1600" dirty="0"/>
          </a:p>
        </p:txBody>
      </p:sp>
      <p:sp>
        <p:nvSpPr>
          <p:cNvPr id="13" name="Text 11"/>
          <p:cNvSpPr/>
          <p:nvPr/>
        </p:nvSpPr>
        <p:spPr>
          <a:xfrm>
            <a:off x="5676900" y="1651000"/>
            <a:ext cx="4394200" cy="406400"/>
          </a:xfrm>
          <a:prstGeom prst="rect">
            <a:avLst/>
          </a:prstGeom>
          <a:noFill/>
          <a:ln/>
        </p:spPr>
        <p:txBody>
          <a:bodyPr wrap="none" lIns="0" tIns="0" rIns="0" bIns="0" rtlCol="0" anchor="ctr"/>
          <a:lstStyle/>
          <a:p>
            <a:pPr>
              <a:lnSpc>
                <a:spcPct val="100000"/>
              </a:lnSpc>
            </a:pPr>
            <a:r>
              <a:rPr lang="en-US" sz="1200" dirty="0" err="1">
                <a:solidFill>
                  <a:srgbClr val="555555"/>
                </a:solidFill>
                <a:latin typeface="Liter" pitchFamily="34" charset="0"/>
                <a:ea typeface="Liter" pitchFamily="34" charset="-122"/>
                <a:cs typeface="Liter" pitchFamily="34" charset="-120"/>
              </a:rPr>
              <a:t>fact_gl_transaction</a:t>
            </a:r>
            <a:r>
              <a:rPr lang="en-US" sz="1200" dirty="0">
                <a:solidFill>
                  <a:srgbClr val="555555"/>
                </a:solidFill>
                <a:latin typeface="Liter" pitchFamily="34" charset="0"/>
                <a:ea typeface="Liter" pitchFamily="34" charset="-122"/>
                <a:cs typeface="Liter" pitchFamily="34" charset="-120"/>
              </a:rPr>
              <a:t> (20000 </a:t>
            </a:r>
            <a:r>
              <a:rPr lang="en-US" sz="1200" dirty="0" err="1">
                <a:solidFill>
                  <a:srgbClr val="555555"/>
                </a:solidFill>
                <a:latin typeface="Liter" pitchFamily="34" charset="0"/>
                <a:ea typeface="Liter" pitchFamily="34" charset="-122"/>
                <a:cs typeface="Liter" pitchFamily="34" charset="-120"/>
              </a:rPr>
              <a:t>lignes</a:t>
            </a:r>
            <a:r>
              <a:rPr lang="en-US" sz="1200" dirty="0">
                <a:solidFill>
                  <a:srgbClr val="555555"/>
                </a:solidFill>
                <a:latin typeface="Liter" pitchFamily="34" charset="0"/>
                <a:ea typeface="Liter" pitchFamily="34" charset="-122"/>
                <a:cs typeface="Liter" pitchFamily="34" charset="-120"/>
              </a:rPr>
              <a:t>)</a:t>
            </a:r>
            <a:endParaRPr lang="en-US" sz="1600" dirty="0"/>
          </a:p>
        </p:txBody>
      </p:sp>
      <p:sp>
        <p:nvSpPr>
          <p:cNvPr id="14" name="Shape 12"/>
          <p:cNvSpPr/>
          <p:nvPr/>
        </p:nvSpPr>
        <p:spPr>
          <a:xfrm>
            <a:off x="10414000" y="1016000"/>
            <a:ext cx="5207000" cy="1143000"/>
          </a:xfrm>
          <a:prstGeom prst="rect">
            <a:avLst/>
          </a:prstGeom>
          <a:solidFill>
            <a:srgbClr val="EBF0F7"/>
          </a:solidFill>
          <a:ln/>
        </p:spPr>
      </p:sp>
      <p:sp>
        <p:nvSpPr>
          <p:cNvPr id="15" name="Shape 13"/>
          <p:cNvSpPr/>
          <p:nvPr/>
        </p:nvSpPr>
        <p:spPr>
          <a:xfrm>
            <a:off x="10414000" y="1016000"/>
            <a:ext cx="5207000" cy="38100"/>
          </a:xfrm>
          <a:prstGeom prst="rect">
            <a:avLst/>
          </a:prstGeom>
          <a:solidFill>
            <a:srgbClr val="1B3A6B"/>
          </a:solidFill>
          <a:ln/>
        </p:spPr>
      </p:sp>
      <p:sp>
        <p:nvSpPr>
          <p:cNvPr id="16" name="Text 14"/>
          <p:cNvSpPr/>
          <p:nvPr/>
        </p:nvSpPr>
        <p:spPr>
          <a:xfrm>
            <a:off x="10566400" y="1117600"/>
            <a:ext cx="4902200" cy="508000"/>
          </a:xfrm>
          <a:prstGeom prst="rect">
            <a:avLst/>
          </a:prstGeom>
          <a:noFill/>
          <a:ln/>
        </p:spPr>
        <p:txBody>
          <a:bodyPr wrap="none" lIns="0" tIns="0" rIns="0" bIns="0" rtlCol="0" anchor="ctr"/>
          <a:lstStyle/>
          <a:p>
            <a:pPr>
              <a:lnSpc>
                <a:spcPct val="100000"/>
              </a:lnSpc>
            </a:pPr>
            <a:r>
              <a:rPr lang="en-US" sz="2800" b="1" dirty="0">
                <a:solidFill>
                  <a:srgbClr val="1B3A6B"/>
                </a:solidFill>
                <a:latin typeface="Sorts Mill Goudy" pitchFamily="34" charset="0"/>
                <a:ea typeface="Sorts Mill Goudy" pitchFamily="34" charset="-122"/>
                <a:cs typeface="Sorts Mill Goudy" pitchFamily="34" charset="-120"/>
              </a:rPr>
              <a:t>3</a:t>
            </a:r>
            <a:r>
              <a:rPr lang="en-US" sz="1600" dirty="0">
                <a:solidFill>
                  <a:srgbClr val="000000"/>
                </a:solidFill>
                <a:latin typeface="微软雅黑" pitchFamily="34" charset="0"/>
                <a:ea typeface="微软雅黑" pitchFamily="34" charset="-122"/>
                <a:cs typeface="微软雅黑" pitchFamily="34" charset="-120"/>
              </a:rPr>
              <a:t> </a:t>
            </a:r>
            <a:r>
              <a:rPr lang="en-US" sz="1600" dirty="0">
                <a:solidFill>
                  <a:srgbClr val="2D2D2D"/>
                </a:solidFill>
                <a:latin typeface="Liter" pitchFamily="34" charset="0"/>
                <a:ea typeface="Liter" pitchFamily="34" charset="-122"/>
                <a:cs typeface="Liter" pitchFamily="34" charset="-120"/>
              </a:rPr>
              <a:t>Vues SQL Gold</a:t>
            </a:r>
            <a:endParaRPr lang="en-US" sz="1600" dirty="0"/>
          </a:p>
        </p:txBody>
      </p:sp>
      <p:sp>
        <p:nvSpPr>
          <p:cNvPr id="17" name="Text 15"/>
          <p:cNvSpPr/>
          <p:nvPr/>
        </p:nvSpPr>
        <p:spPr>
          <a:xfrm>
            <a:off x="10566400" y="1651000"/>
            <a:ext cx="4902200" cy="406400"/>
          </a:xfrm>
          <a:prstGeom prst="rect">
            <a:avLst/>
          </a:prstGeom>
          <a:noFill/>
          <a:ln/>
        </p:spPr>
        <p:txBody>
          <a:bodyPr wrap="none" lIns="0" tIns="0" rIns="0" bIns="0" rtlCol="0" anchor="ctr"/>
          <a:lstStyle/>
          <a:p>
            <a:pPr>
              <a:lnSpc>
                <a:spcPct val="100000"/>
              </a:lnSpc>
            </a:pPr>
            <a:r>
              <a:rPr lang="en-US" sz="1200" dirty="0">
                <a:solidFill>
                  <a:srgbClr val="555555"/>
                </a:solidFill>
                <a:latin typeface="Liter" pitchFamily="34" charset="0"/>
                <a:ea typeface="Liter" pitchFamily="34" charset="-122"/>
                <a:cs typeface="Liter" pitchFamily="34" charset="-120"/>
              </a:rPr>
              <a:t>Prêtes pour analyse et reporting</a:t>
            </a:r>
            <a:endParaRPr lang="en-US" sz="1600" dirty="0"/>
          </a:p>
        </p:txBody>
      </p:sp>
      <p:sp>
        <p:nvSpPr>
          <p:cNvPr id="18" name="Shape 16"/>
          <p:cNvSpPr/>
          <p:nvPr/>
        </p:nvSpPr>
        <p:spPr>
          <a:xfrm>
            <a:off x="635000" y="2336800"/>
            <a:ext cx="7493000" cy="279400"/>
          </a:xfrm>
          <a:prstGeom prst="rect">
            <a:avLst/>
          </a:prstGeom>
          <a:solidFill>
            <a:srgbClr val="EBF0F7"/>
          </a:solidFill>
          <a:ln/>
        </p:spPr>
      </p:sp>
      <p:sp>
        <p:nvSpPr>
          <p:cNvPr id="19" name="Shape 17"/>
          <p:cNvSpPr/>
          <p:nvPr/>
        </p:nvSpPr>
        <p:spPr>
          <a:xfrm>
            <a:off x="635000" y="2336800"/>
            <a:ext cx="38100" cy="279400"/>
          </a:xfrm>
          <a:prstGeom prst="rect">
            <a:avLst/>
          </a:prstGeom>
          <a:solidFill>
            <a:srgbClr val="C9963B"/>
          </a:solidFill>
          <a:ln/>
        </p:spPr>
      </p:sp>
      <p:sp>
        <p:nvSpPr>
          <p:cNvPr id="20" name="Text 18"/>
          <p:cNvSpPr/>
          <p:nvPr/>
        </p:nvSpPr>
        <p:spPr>
          <a:xfrm>
            <a:off x="736600" y="2336800"/>
            <a:ext cx="7366000" cy="279400"/>
          </a:xfrm>
          <a:prstGeom prst="rect">
            <a:avLst/>
          </a:prstGeom>
          <a:noFill/>
          <a:ln/>
        </p:spPr>
        <p:txBody>
          <a:bodyPr wrap="none" lIns="0" tIns="0" rIns="0" bIns="0" rtlCol="0" anchor="ctr"/>
          <a:lstStyle/>
          <a:p>
            <a:pPr>
              <a:lnSpc>
                <a:spcPct val="100000"/>
              </a:lnSpc>
            </a:pPr>
            <a:r>
              <a:rPr lang="en-US" sz="1300" b="1" dirty="0">
                <a:solidFill>
                  <a:srgbClr val="0F2647"/>
                </a:solidFill>
                <a:latin typeface="Liter" pitchFamily="34" charset="0"/>
                <a:ea typeface="Liter" pitchFamily="34" charset="-122"/>
                <a:cs typeface="Liter" pitchFamily="34" charset="-120"/>
              </a:rPr>
              <a:t>Structure du modèle en étoile (Star Schema)</a:t>
            </a:r>
            <a:endParaRPr lang="en-US" sz="1600" dirty="0"/>
          </a:p>
        </p:txBody>
      </p:sp>
      <p:sp>
        <p:nvSpPr>
          <p:cNvPr id="21" name="Text 19"/>
          <p:cNvSpPr/>
          <p:nvPr/>
        </p:nvSpPr>
        <p:spPr>
          <a:xfrm>
            <a:off x="736600" y="2692400"/>
            <a:ext cx="7264400" cy="4216400"/>
          </a:xfrm>
          <a:prstGeom prst="rect">
            <a:avLst/>
          </a:prstGeom>
          <a:noFill/>
          <a:ln/>
        </p:spPr>
        <p:txBody>
          <a:bodyPr wrap="square" lIns="0" tIns="0" rIns="0" bIns="0" rtlCol="0" anchor="ctr"/>
          <a:lstStyle/>
          <a:p>
            <a:pPr>
              <a:lnSpc>
                <a:spcPct val="150000"/>
              </a:lnSpc>
            </a:pPr>
            <a:r>
              <a:rPr lang="en-US" sz="1400" b="1" dirty="0">
                <a:solidFill>
                  <a:srgbClr val="1B3A6B"/>
                </a:solidFill>
                <a:latin typeface="Liter" pitchFamily="34" charset="0"/>
                <a:ea typeface="Liter" pitchFamily="34" charset="-122"/>
                <a:cs typeface="Liter" pitchFamily="34" charset="-120"/>
              </a:rPr>
              <a:t>Centre — Table de faits :</a:t>
            </a:r>
            <a:endParaRPr lang="en-US" sz="1600" dirty="0"/>
          </a:p>
          <a:p>
            <a:pPr>
              <a:lnSpc>
                <a:spcPct val="150000"/>
              </a:lnSpc>
            </a:pPr>
            <a:r>
              <a:rPr lang="en-US" sz="1200" b="1" dirty="0">
                <a:solidFill>
                  <a:srgbClr val="555555"/>
                </a:solidFill>
                <a:latin typeface="Liter" pitchFamily="34" charset="0"/>
                <a:ea typeface="Liter" pitchFamily="34" charset="-122"/>
                <a:cs typeface="Liter" pitchFamily="34" charset="-120"/>
              </a:rPr>
              <a:t>gold.fact_gl_transaction</a:t>
            </a:r>
            <a:endParaRPr lang="en-US" sz="1600" dirty="0"/>
          </a:p>
          <a:p>
            <a:pPr>
              <a:lnSpc>
                <a:spcPct val="150000"/>
              </a:lnSpc>
            </a:pPr>
            <a:r>
              <a:rPr lang="en-US" sz="1200" dirty="0">
                <a:solidFill>
                  <a:srgbClr val="555555"/>
                </a:solidFill>
                <a:latin typeface="Liter" pitchFamily="34" charset="0"/>
                <a:ea typeface="Liter" pitchFamily="34" charset="-122"/>
                <a:cs typeface="Liter" pitchFamily="34" charset="-120"/>
              </a:rPr>
              <a:t>■ transaction_id (PK) · transaction_date · store_code (FK) · account_number (FK) · amount_local</a:t>
            </a:r>
            <a:endParaRPr lang="en-US" sz="1600" dirty="0"/>
          </a:p>
          <a:p>
            <a:pPr>
              <a:lnSpc>
                <a:spcPct val="150000"/>
              </a:lnSpc>
              <a:spcBef>
                <a:spcPts val="600"/>
              </a:spcBef>
            </a:pPr>
            <a:r>
              <a:rPr lang="en-US" sz="1400" b="1" dirty="0">
                <a:solidFill>
                  <a:srgbClr val="1B3A6B"/>
                </a:solidFill>
                <a:latin typeface="Liter" pitchFamily="34" charset="0"/>
                <a:ea typeface="Liter" pitchFamily="34" charset="-122"/>
                <a:cs typeface="Liter" pitchFamily="34" charset="-120"/>
              </a:rPr>
              <a:t>Dimension 1 — Comptes :</a:t>
            </a:r>
            <a:endParaRPr lang="en-US" sz="1600" dirty="0"/>
          </a:p>
          <a:p>
            <a:pPr>
              <a:lnSpc>
                <a:spcPct val="150000"/>
              </a:lnSpc>
            </a:pPr>
            <a:r>
              <a:rPr lang="en-US" sz="1200" b="1" dirty="0">
                <a:solidFill>
                  <a:srgbClr val="555555"/>
                </a:solidFill>
                <a:latin typeface="Liter" pitchFamily="34" charset="0"/>
                <a:ea typeface="Liter" pitchFamily="34" charset="-122"/>
                <a:cs typeface="Liter" pitchFamily="34" charset="-120"/>
              </a:rPr>
              <a:t>gold.dim_account</a:t>
            </a:r>
            <a:r>
              <a:rPr lang="en-US" sz="1200" dirty="0">
                <a:solidFill>
                  <a:srgbClr val="555555"/>
                </a:solidFill>
                <a:latin typeface="Liter" pitchFamily="34" charset="0"/>
                <a:ea typeface="Liter" pitchFamily="34" charset="-122"/>
                <a:cs typeface="Liter" pitchFamily="34" charset="-120"/>
              </a:rPr>
              <a:t> — enrichie avec mapping</a:t>
            </a:r>
            <a:endParaRPr lang="en-US" sz="1600" dirty="0"/>
          </a:p>
          <a:p>
            <a:pPr>
              <a:lnSpc>
                <a:spcPct val="150000"/>
              </a:lnSpc>
            </a:pPr>
            <a:r>
              <a:rPr lang="en-US" sz="1200" dirty="0">
                <a:solidFill>
                  <a:srgbClr val="555555"/>
                </a:solidFill>
                <a:latin typeface="Liter" pitchFamily="34" charset="0"/>
                <a:ea typeface="Liter" pitchFamily="34" charset="-122"/>
                <a:cs typeface="Liter" pitchFamily="34" charset="-120"/>
              </a:rPr>
              <a:t>■ account_number (PK) · account_name · account_type · pl_line · statement_type · sort_order</a:t>
            </a:r>
            <a:endParaRPr lang="en-US" sz="1600" dirty="0"/>
          </a:p>
          <a:p>
            <a:pPr>
              <a:lnSpc>
                <a:spcPct val="150000"/>
              </a:lnSpc>
              <a:spcBef>
                <a:spcPts val="600"/>
              </a:spcBef>
            </a:pPr>
            <a:r>
              <a:rPr lang="en-US" sz="1400" b="1" dirty="0">
                <a:solidFill>
                  <a:srgbClr val="1B3A6B"/>
                </a:solidFill>
                <a:latin typeface="Liter" pitchFamily="34" charset="0"/>
                <a:ea typeface="Liter" pitchFamily="34" charset="-122"/>
                <a:cs typeface="Liter" pitchFamily="34" charset="-120"/>
              </a:rPr>
              <a:t>Dimension 2 — Magasins :</a:t>
            </a:r>
            <a:endParaRPr lang="en-US" sz="1600" dirty="0"/>
          </a:p>
          <a:p>
            <a:pPr>
              <a:lnSpc>
                <a:spcPct val="150000"/>
              </a:lnSpc>
            </a:pPr>
            <a:r>
              <a:rPr lang="en-US" sz="1200" b="1" dirty="0">
                <a:solidFill>
                  <a:srgbClr val="555555"/>
                </a:solidFill>
                <a:latin typeface="Liter" pitchFamily="34" charset="0"/>
                <a:ea typeface="Liter" pitchFamily="34" charset="-122"/>
                <a:cs typeface="Liter" pitchFamily="34" charset="-120"/>
              </a:rPr>
              <a:t>gold.dim_store</a:t>
            </a:r>
            <a:r>
              <a:rPr lang="en-US" sz="1200" dirty="0">
                <a:solidFill>
                  <a:srgbClr val="555555"/>
                </a:solidFill>
                <a:latin typeface="Liter" pitchFamily="34" charset="0"/>
                <a:ea typeface="Liter" pitchFamily="34" charset="-122"/>
                <a:cs typeface="Liter" pitchFamily="34" charset="-120"/>
              </a:rPr>
              <a:t> — fusion store + store_master</a:t>
            </a:r>
            <a:endParaRPr lang="en-US" sz="1600" dirty="0"/>
          </a:p>
          <a:p>
            <a:pPr>
              <a:lnSpc>
                <a:spcPct val="150000"/>
              </a:lnSpc>
            </a:pPr>
            <a:r>
              <a:rPr lang="en-US" sz="1200" dirty="0">
                <a:solidFill>
                  <a:srgbClr val="555555"/>
                </a:solidFill>
                <a:latin typeface="Liter" pitchFamily="34" charset="0"/>
                <a:ea typeface="Liter" pitchFamily="34" charset="-122"/>
                <a:cs typeface="Liter" pitchFamily="34" charset="-120"/>
              </a:rPr>
              <a:t>■ store_code (PK) · store_name · store_type · country (Norway/Sweden) · region</a:t>
            </a:r>
            <a:endParaRPr lang="en-US" sz="1600" dirty="0"/>
          </a:p>
        </p:txBody>
      </p:sp>
      <p:sp>
        <p:nvSpPr>
          <p:cNvPr id="22" name="Shape 20"/>
          <p:cNvSpPr/>
          <p:nvPr/>
        </p:nvSpPr>
        <p:spPr>
          <a:xfrm>
            <a:off x="8255000" y="2336800"/>
            <a:ext cx="7366000" cy="279400"/>
          </a:xfrm>
          <a:prstGeom prst="rect">
            <a:avLst/>
          </a:prstGeom>
          <a:solidFill>
            <a:srgbClr val="EBF0F7"/>
          </a:solidFill>
          <a:ln/>
        </p:spPr>
      </p:sp>
      <p:sp>
        <p:nvSpPr>
          <p:cNvPr id="23" name="Shape 21"/>
          <p:cNvSpPr/>
          <p:nvPr/>
        </p:nvSpPr>
        <p:spPr>
          <a:xfrm>
            <a:off x="8255000" y="2336800"/>
            <a:ext cx="38100" cy="279400"/>
          </a:xfrm>
          <a:prstGeom prst="rect">
            <a:avLst/>
          </a:prstGeom>
          <a:solidFill>
            <a:srgbClr val="C9963B"/>
          </a:solidFill>
          <a:ln/>
        </p:spPr>
      </p:sp>
      <p:sp>
        <p:nvSpPr>
          <p:cNvPr id="24" name="Text 22"/>
          <p:cNvSpPr/>
          <p:nvPr/>
        </p:nvSpPr>
        <p:spPr>
          <a:xfrm>
            <a:off x="8356600" y="2336800"/>
            <a:ext cx="7239000" cy="279400"/>
          </a:xfrm>
          <a:prstGeom prst="rect">
            <a:avLst/>
          </a:prstGeom>
          <a:noFill/>
          <a:ln/>
        </p:spPr>
        <p:txBody>
          <a:bodyPr wrap="none" lIns="0" tIns="0" rIns="0" bIns="0" rtlCol="0" anchor="ctr"/>
          <a:lstStyle/>
          <a:p>
            <a:pPr>
              <a:lnSpc>
                <a:spcPct val="100000"/>
              </a:lnSpc>
            </a:pPr>
            <a:r>
              <a:rPr lang="en-US" sz="1300" b="1" dirty="0">
                <a:solidFill>
                  <a:srgbClr val="0F2647"/>
                </a:solidFill>
                <a:latin typeface="Liter" pitchFamily="34" charset="0"/>
                <a:ea typeface="Liter" pitchFamily="34" charset="-122"/>
                <a:cs typeface="Liter" pitchFamily="34" charset="-120"/>
              </a:rPr>
              <a:t>Test analytique — Résultats par type de rapport</a:t>
            </a:r>
            <a:endParaRPr lang="en-US" sz="1600" dirty="0"/>
          </a:p>
        </p:txBody>
      </p:sp>
      <p:sp>
        <p:nvSpPr>
          <p:cNvPr id="25" name="Text 23"/>
          <p:cNvSpPr/>
          <p:nvPr/>
        </p:nvSpPr>
        <p:spPr>
          <a:xfrm>
            <a:off x="8356600" y="2692400"/>
            <a:ext cx="7137400" cy="2032000"/>
          </a:xfrm>
          <a:prstGeom prst="rect">
            <a:avLst/>
          </a:prstGeom>
          <a:noFill/>
          <a:ln/>
        </p:spPr>
        <p:txBody>
          <a:bodyPr wrap="square" lIns="0" tIns="0" rIns="0" bIns="0" rtlCol="0" anchor="ctr"/>
          <a:lstStyle/>
          <a:p>
            <a:pPr>
              <a:lnSpc>
                <a:spcPct val="150000"/>
              </a:lnSpc>
            </a:pPr>
            <a:r>
              <a:rPr lang="en-US" sz="1300" b="1" dirty="0">
                <a:solidFill>
                  <a:srgbClr val="2D2D2D"/>
                </a:solidFill>
                <a:latin typeface="Liter" pitchFamily="34" charset="0"/>
                <a:ea typeface="Liter" pitchFamily="34" charset="-122"/>
                <a:cs typeface="Liter" pitchFamily="34" charset="-120"/>
              </a:rPr>
              <a:t>SELECT</a:t>
            </a:r>
            <a:endParaRPr lang="en-US" sz="1600" dirty="0"/>
          </a:p>
          <a:p>
            <a:pPr>
              <a:lnSpc>
                <a:spcPct val="150000"/>
              </a:lnSpc>
            </a:pPr>
            <a:r>
              <a:rPr lang="en-US" sz="1200" dirty="0">
                <a:solidFill>
                  <a:srgbClr val="555555"/>
                </a:solidFill>
                <a:latin typeface="Liter" pitchFamily="34" charset="0"/>
                <a:ea typeface="Liter" pitchFamily="34" charset="-122"/>
                <a:cs typeface="Liter" pitchFamily="34" charset="-120"/>
              </a:rPr>
              <a:t>a.statement_type,</a:t>
            </a:r>
            <a:endParaRPr lang="en-US" sz="1600" dirty="0"/>
          </a:p>
          <a:p>
            <a:pPr>
              <a:lnSpc>
                <a:spcPct val="150000"/>
              </a:lnSpc>
            </a:pPr>
            <a:r>
              <a:rPr lang="en-US" sz="1200" dirty="0">
                <a:solidFill>
                  <a:srgbClr val="555555"/>
                </a:solidFill>
                <a:latin typeface="Liter" pitchFamily="34" charset="0"/>
                <a:ea typeface="Liter" pitchFamily="34" charset="-122"/>
                <a:cs typeface="Liter" pitchFamily="34" charset="-120"/>
              </a:rPr>
              <a:t>SUM(f.amount_local) as Total</a:t>
            </a:r>
            <a:endParaRPr lang="en-US" sz="1600" dirty="0"/>
          </a:p>
          <a:p>
            <a:pPr>
              <a:lnSpc>
                <a:spcPct val="150000"/>
              </a:lnSpc>
            </a:pPr>
            <a:r>
              <a:rPr lang="en-US" sz="1300" b="1" dirty="0">
                <a:solidFill>
                  <a:srgbClr val="2D2D2D"/>
                </a:solidFill>
                <a:latin typeface="Liter" pitchFamily="34" charset="0"/>
                <a:ea typeface="Liter" pitchFamily="34" charset="-122"/>
                <a:cs typeface="Liter" pitchFamily="34" charset="-120"/>
              </a:rPr>
              <a:t>FROM</a:t>
            </a:r>
            <a:r>
              <a:rPr lang="en-US" sz="1200" dirty="0">
                <a:solidFill>
                  <a:srgbClr val="2D2D2D"/>
                </a:solidFill>
                <a:latin typeface="Liter" pitchFamily="34" charset="0"/>
                <a:ea typeface="Liter" pitchFamily="34" charset="-122"/>
                <a:cs typeface="Liter" pitchFamily="34" charset="-120"/>
              </a:rPr>
              <a:t> </a:t>
            </a:r>
            <a:r>
              <a:rPr lang="en-US" sz="1200" dirty="0">
                <a:solidFill>
                  <a:srgbClr val="555555"/>
                </a:solidFill>
                <a:latin typeface="Liter" pitchFamily="34" charset="0"/>
                <a:ea typeface="Liter" pitchFamily="34" charset="-122"/>
                <a:cs typeface="Liter" pitchFamily="34" charset="-120"/>
              </a:rPr>
              <a:t>gold.fact_gl_transaction f</a:t>
            </a:r>
            <a:endParaRPr lang="en-US" sz="1600" dirty="0"/>
          </a:p>
          <a:p>
            <a:pPr>
              <a:lnSpc>
                <a:spcPct val="150000"/>
              </a:lnSpc>
            </a:pPr>
            <a:r>
              <a:rPr lang="en-US" sz="1300" b="1" dirty="0">
                <a:solidFill>
                  <a:srgbClr val="2D2D2D"/>
                </a:solidFill>
                <a:latin typeface="Liter" pitchFamily="34" charset="0"/>
                <a:ea typeface="Liter" pitchFamily="34" charset="-122"/>
                <a:cs typeface="Liter" pitchFamily="34" charset="-120"/>
              </a:rPr>
              <a:t>JOIN</a:t>
            </a:r>
            <a:r>
              <a:rPr lang="en-US" sz="1200" dirty="0">
                <a:solidFill>
                  <a:srgbClr val="2D2D2D"/>
                </a:solidFill>
                <a:latin typeface="Liter" pitchFamily="34" charset="0"/>
                <a:ea typeface="Liter" pitchFamily="34" charset="-122"/>
                <a:cs typeface="Liter" pitchFamily="34" charset="-120"/>
              </a:rPr>
              <a:t> </a:t>
            </a:r>
            <a:r>
              <a:rPr lang="en-US" sz="1200" dirty="0">
                <a:solidFill>
                  <a:srgbClr val="555555"/>
                </a:solidFill>
                <a:latin typeface="Liter" pitchFamily="34" charset="0"/>
                <a:ea typeface="Liter" pitchFamily="34" charset="-122"/>
                <a:cs typeface="Liter" pitchFamily="34" charset="-120"/>
              </a:rPr>
              <a:t>gold.dim_account a</a:t>
            </a:r>
            <a:endParaRPr lang="en-US" sz="1600" dirty="0"/>
          </a:p>
          <a:p>
            <a:pPr>
              <a:lnSpc>
                <a:spcPct val="150000"/>
              </a:lnSpc>
            </a:pPr>
            <a:r>
              <a:rPr lang="en-US" sz="1200" dirty="0">
                <a:solidFill>
                  <a:srgbClr val="555555"/>
                </a:solidFill>
                <a:latin typeface="Liter" pitchFamily="34" charset="0"/>
                <a:ea typeface="Liter" pitchFamily="34" charset="-122"/>
                <a:cs typeface="Liter" pitchFamily="34" charset="-120"/>
              </a:rPr>
              <a:t>ON f.account_number = a.account_number</a:t>
            </a:r>
            <a:endParaRPr lang="en-US" sz="1600" dirty="0"/>
          </a:p>
          <a:p>
            <a:pPr>
              <a:lnSpc>
                <a:spcPct val="150000"/>
              </a:lnSpc>
            </a:pPr>
            <a:r>
              <a:rPr lang="en-US" sz="1300" b="1" dirty="0">
                <a:solidFill>
                  <a:srgbClr val="2D2D2D"/>
                </a:solidFill>
                <a:latin typeface="Liter" pitchFamily="34" charset="0"/>
                <a:ea typeface="Liter" pitchFamily="34" charset="-122"/>
                <a:cs typeface="Liter" pitchFamily="34" charset="-120"/>
              </a:rPr>
              <a:t>GROUP BY</a:t>
            </a:r>
            <a:r>
              <a:rPr lang="en-US" sz="1200" dirty="0">
                <a:solidFill>
                  <a:srgbClr val="2D2D2D"/>
                </a:solidFill>
                <a:latin typeface="Liter" pitchFamily="34" charset="0"/>
                <a:ea typeface="Liter" pitchFamily="34" charset="-122"/>
                <a:cs typeface="Liter" pitchFamily="34" charset="-120"/>
              </a:rPr>
              <a:t> </a:t>
            </a:r>
            <a:r>
              <a:rPr lang="en-US" sz="1200" dirty="0">
                <a:solidFill>
                  <a:srgbClr val="555555"/>
                </a:solidFill>
                <a:latin typeface="Liter" pitchFamily="34" charset="0"/>
                <a:ea typeface="Liter" pitchFamily="34" charset="-122"/>
                <a:cs typeface="Liter" pitchFamily="34" charset="-120"/>
              </a:rPr>
              <a:t>a.statement_type;</a:t>
            </a:r>
            <a:endParaRPr lang="en-US" sz="1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8356600" y="4826000"/>
          <a:ext cx="7137400" cy="1269999"/>
        </p:xfrm>
        <a:graphic>
          <a:graphicData uri="http://schemas.openxmlformats.org/drawingml/2006/table">
            <a:tbl>
              <a:tblPr/>
              <a:tblGrid>
                <a:gridCol w="3568700">
                  <a:extLst>
                    <a:ext uri="{9D8B030D-6E8A-4147-A177-3AD203B41FA5}">
                      <a16:colId xmlns:a16="http://schemas.microsoft.com/office/drawing/2014/main" val="20000"/>
                    </a:ext>
                  </a:extLst>
                </a:gridCol>
                <a:gridCol w="3568700">
                  <a:extLst>
                    <a:ext uri="{9D8B030D-6E8A-4147-A177-3AD203B41FA5}">
                      <a16:colId xmlns:a16="http://schemas.microsoft.com/office/drawing/2014/main" val="20001"/>
                    </a:ext>
                  </a:extLst>
                </a:gridCol>
              </a:tblGrid>
              <a:tr h="423333">
                <a:tc>
                  <a:txBody>
                    <a:bodyPr/>
                    <a:lstStyle/>
                    <a:p>
                      <a:pPr algn="l"/>
                      <a:r>
                        <a:rPr lang="en-US" sz="1300" b="1" u="none" dirty="0">
                          <a:solidFill>
                            <a:srgbClr val="FFFFFF"/>
                          </a:solidFill>
                          <a:latin typeface="Liter" pitchFamily="34" charset="0"/>
                          <a:ea typeface="Liter" pitchFamily="34" charset="-122"/>
                          <a:cs typeface="Liter" pitchFamily="34" charset="-120"/>
                        </a:rPr>
                        <a:t>Statement Type</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1B3A6B"/>
                    </a:solidFill>
                  </a:tcPr>
                </a:tc>
                <a:tc>
                  <a:txBody>
                    <a:bodyPr/>
                    <a:lstStyle/>
                    <a:p>
                      <a:pPr algn="l"/>
                      <a:r>
                        <a:rPr lang="en-US" sz="1300" b="1" u="none" dirty="0">
                          <a:solidFill>
                            <a:srgbClr val="FFFFFF"/>
                          </a:solidFill>
                          <a:latin typeface="Liter" pitchFamily="34" charset="0"/>
                          <a:ea typeface="Liter" pitchFamily="34" charset="-122"/>
                          <a:cs typeface="Liter" pitchFamily="34" charset="-120"/>
                        </a:rPr>
                        <a:t>Total (NOK)</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423333">
                <a:tc>
                  <a:txBody>
                    <a:bodyPr/>
                    <a:lstStyle/>
                    <a:p>
                      <a:pPr algn="l"/>
                      <a:r>
                        <a:rPr lang="en-US" sz="1300" u="none" dirty="0">
                          <a:solidFill>
                            <a:srgbClr val="C9963B"/>
                          </a:solidFill>
                          <a:latin typeface="Liter" pitchFamily="34" charset="0"/>
                          <a:ea typeface="Liter" pitchFamily="34" charset="-122"/>
                          <a:cs typeface="Liter" pitchFamily="34" charset="-120"/>
                        </a:rPr>
                        <a:t>P&amp;L</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tc>
                  <a:txBody>
                    <a:bodyPr/>
                    <a:lstStyle/>
                    <a:p>
                      <a:pPr algn="l"/>
                      <a:r>
                        <a:rPr lang="en-US" sz="1300" u="none" dirty="0">
                          <a:solidFill>
                            <a:srgbClr val="C9963B"/>
                          </a:solidFill>
                          <a:latin typeface="Liter" pitchFamily="34" charset="0"/>
                          <a:ea typeface="Liter" pitchFamily="34" charset="-122"/>
                          <a:cs typeface="Liter" pitchFamily="34" charset="-120"/>
                        </a:rPr>
                        <a:t>-4,892,450.12</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3333">
                <a:tc>
                  <a:txBody>
                    <a:bodyPr/>
                    <a:lstStyle/>
                    <a:p>
                      <a:pPr algn="l"/>
                      <a:r>
                        <a:rPr lang="en-US" sz="1300" u="none" dirty="0">
                          <a:solidFill>
                            <a:srgbClr val="2D2D2D"/>
                          </a:solidFill>
                          <a:latin typeface="Liter" pitchFamily="34" charset="0"/>
                          <a:ea typeface="Liter" pitchFamily="34" charset="-122"/>
                          <a:cs typeface="Liter" pitchFamily="34" charset="-120"/>
                        </a:rPr>
                        <a:t>Bilan (non classé)</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EBF0F7"/>
                    </a:solidFill>
                  </a:tcPr>
                </a:tc>
                <a:tc>
                  <a:txBody>
                    <a:bodyPr/>
                    <a:lstStyle/>
                    <a:p>
                      <a:pPr algn="l"/>
                      <a:r>
                        <a:rPr lang="en-US" sz="1300" u="none" dirty="0">
                          <a:solidFill>
                            <a:srgbClr val="2D2D2D"/>
                          </a:solidFill>
                          <a:latin typeface="Liter" pitchFamily="34" charset="0"/>
                          <a:ea typeface="Liter" pitchFamily="34" charset="-122"/>
                          <a:cs typeface="Liter" pitchFamily="34" charset="-120"/>
                        </a:rPr>
                        <a:t>—</a:t>
                      </a:r>
                      <a:endParaRPr lang="en-US" sz="1300" dirty="0">
                        <a:latin typeface="Liter" charset="0"/>
                        <a:ea typeface="Liter" charset="0"/>
                        <a:cs typeface="Liter" charset="0"/>
                      </a:endParaRPr>
                    </a:p>
                  </a:txBody>
                  <a:tcPr marT="0" marB="0" anchor="ctr">
                    <a:lnL w="12700" cap="flat" cmpd="sng" algn="ctr">
                      <a:solidFill>
                        <a:srgbClr val="D0D8E4"/>
                      </a:solidFill>
                      <a:prstDash val="solid"/>
                      <a:round/>
                      <a:headEnd type="none" w="med" len="med"/>
                      <a:tailEnd type="none" w="med" len="med"/>
                    </a:lnL>
                    <a:lnR w="12700" cap="flat" cmpd="sng" algn="ctr">
                      <a:solidFill>
                        <a:srgbClr val="D0D8E4"/>
                      </a:solidFill>
                      <a:prstDash val="solid"/>
                      <a:round/>
                      <a:headEnd type="none" w="med" len="med"/>
                      <a:tailEnd type="none" w="med" len="med"/>
                    </a:lnR>
                    <a:lnT w="12700" cap="flat" cmpd="sng" algn="ctr">
                      <a:solidFill>
                        <a:srgbClr val="D0D8E4"/>
                      </a:solidFill>
                      <a:prstDash val="solid"/>
                      <a:round/>
                      <a:headEnd type="none" w="med" len="med"/>
                      <a:tailEnd type="none" w="med" len="med"/>
                    </a:lnT>
                    <a:lnB w="12700" cap="flat" cmpd="sng" algn="ctr">
                      <a:solidFill>
                        <a:srgbClr val="D0D8E4"/>
                      </a:solidFill>
                      <a:prstDash val="solid"/>
                      <a:round/>
                      <a:headEnd type="none" w="med" len="med"/>
                      <a:tailEnd type="none" w="med" len="med"/>
                    </a:lnB>
                    <a:solidFill>
                      <a:srgbClr val="EBF0F7"/>
                    </a:solidFill>
                  </a:tcPr>
                </a:tc>
                <a:extLst>
                  <a:ext uri="{0D108BD9-81ED-4DB2-BD59-A6C34878D82A}">
                    <a16:rowId xmlns:a16="http://schemas.microsoft.com/office/drawing/2014/main" val="10002"/>
                  </a:ext>
                </a:extLst>
              </a:tr>
            </a:tbl>
          </a:graphicData>
        </a:graphic>
      </p:graphicFrame>
      <p:sp>
        <p:nvSpPr>
          <p:cNvPr id="27" name="Text 24"/>
          <p:cNvSpPr/>
          <p:nvPr/>
        </p:nvSpPr>
        <p:spPr>
          <a:xfrm>
            <a:off x="8356600" y="6248400"/>
            <a:ext cx="7137400" cy="508000"/>
          </a:xfrm>
          <a:prstGeom prst="rect">
            <a:avLst/>
          </a:prstGeom>
          <a:noFill/>
          <a:ln/>
        </p:spPr>
        <p:txBody>
          <a:bodyPr wrap="square" lIns="0" tIns="0" rIns="0" bIns="0" rtlCol="0" anchor="ctr"/>
          <a:lstStyle/>
          <a:p>
            <a:pPr>
              <a:lnSpc>
                <a:spcPct val="150000"/>
              </a:lnSpc>
            </a:pPr>
            <a:r>
              <a:rPr lang="en-US" sz="1300" b="1" dirty="0">
                <a:solidFill>
                  <a:srgbClr val="C9963B"/>
                </a:solidFill>
                <a:latin typeface="Liter" pitchFamily="34" charset="0"/>
                <a:ea typeface="Liter" pitchFamily="34" charset="-122"/>
                <a:cs typeface="Liter" pitchFamily="34" charset="-120"/>
              </a:rPr>
              <a:t>✓ Modèle en étoile fonctionnel — Jointures OK</a:t>
            </a:r>
            <a:endParaRPr lang="en-US" sz="1600" dirty="0"/>
          </a:p>
        </p:txBody>
      </p:sp>
      <p:sp>
        <p:nvSpPr>
          <p:cNvPr id="28" name="Shape 25"/>
          <p:cNvSpPr/>
          <p:nvPr/>
        </p:nvSpPr>
        <p:spPr>
          <a:xfrm>
            <a:off x="635000" y="6985000"/>
            <a:ext cx="14986000" cy="609600"/>
          </a:xfrm>
          <a:prstGeom prst="rect">
            <a:avLst/>
          </a:prstGeom>
          <a:solidFill>
            <a:srgbClr val="1B3A6B"/>
          </a:solidFill>
          <a:ln/>
        </p:spPr>
      </p:sp>
      <p:sp>
        <p:nvSpPr>
          <p:cNvPr id="29" name="Text 26"/>
          <p:cNvSpPr/>
          <p:nvPr/>
        </p:nvSpPr>
        <p:spPr>
          <a:xfrm>
            <a:off x="838200" y="6985000"/>
            <a:ext cx="14605000" cy="609600"/>
          </a:xfrm>
          <a:prstGeom prst="rect">
            <a:avLst/>
          </a:prstGeom>
          <a:noFill/>
          <a:ln/>
        </p:spPr>
        <p:txBody>
          <a:bodyPr wrap="square" lIns="0" tIns="0" rIns="0" bIns="0" rtlCol="0" anchor="ctr"/>
          <a:lstStyle/>
          <a:p>
            <a:pPr>
              <a:lnSpc>
                <a:spcPct val="100000"/>
              </a:lnSpc>
            </a:pPr>
            <a:r>
              <a:rPr lang="en-US" sz="1400" b="1" dirty="0">
                <a:solidFill>
                  <a:srgbClr val="FFFFFF"/>
                </a:solidFill>
                <a:latin typeface="Liter" pitchFamily="34" charset="0"/>
                <a:ea typeface="Liter" pitchFamily="34" charset="-122"/>
                <a:cs typeface="Liter" pitchFamily="34" charset="-120"/>
              </a:rPr>
              <a:t>Architecture Gold :</a:t>
            </a:r>
            <a:r>
              <a:rPr lang="en-US" sz="1400" dirty="0">
                <a:solidFill>
                  <a:srgbClr val="FFFFFF"/>
                </a:solidFill>
                <a:latin typeface="Liter" pitchFamily="34" charset="0"/>
                <a:ea typeface="Liter" pitchFamily="34" charset="-122"/>
                <a:cs typeface="Liter" pitchFamily="34" charset="-120"/>
              </a:rPr>
              <a:t> Le Star Schema permet des analyses </a:t>
            </a:r>
            <a:r>
              <a:rPr lang="en-US" sz="1400" dirty="0" err="1">
                <a:solidFill>
                  <a:srgbClr val="FFFFFF"/>
                </a:solidFill>
                <a:latin typeface="Liter" pitchFamily="34" charset="0"/>
                <a:ea typeface="Liter" pitchFamily="34" charset="-122"/>
                <a:cs typeface="Liter" pitchFamily="34" charset="-120"/>
              </a:rPr>
              <a:t>multidimensionnelles</a:t>
            </a:r>
            <a:r>
              <a:rPr lang="en-US" sz="1400" dirty="0">
                <a:solidFill>
                  <a:srgbClr val="FFFFFF"/>
                </a:solidFill>
                <a:latin typeface="Liter" pitchFamily="34" charset="0"/>
                <a:ea typeface="Liter" pitchFamily="34" charset="-122"/>
                <a:cs typeface="Liter" pitchFamily="34" charset="-120"/>
              </a:rPr>
              <a:t>, </a:t>
            </a:r>
            <a:r>
              <a:rPr lang="en-US" sz="1400" dirty="0" err="1">
                <a:solidFill>
                  <a:srgbClr val="FFFFFF"/>
                </a:solidFill>
                <a:latin typeface="Liter" pitchFamily="34" charset="0"/>
                <a:ea typeface="Liter" pitchFamily="34" charset="-122"/>
                <a:cs typeface="Liter" pitchFamily="34" charset="-120"/>
              </a:rPr>
              <a:t>filtrage</a:t>
            </a:r>
            <a:r>
              <a:rPr lang="en-US" sz="1400" dirty="0">
                <a:solidFill>
                  <a:srgbClr val="FFFFFF"/>
                </a:solidFill>
                <a:latin typeface="Liter" pitchFamily="34" charset="0"/>
                <a:ea typeface="Liter" pitchFamily="34" charset="-122"/>
                <a:cs typeface="Liter" pitchFamily="34" charset="-120"/>
              </a:rPr>
              <a:t> par compte, magasin, période, type de rapport, avec des performances optimales grâce aux jointures directes entre faits et dimensions.</a:t>
            </a:r>
            <a:endParaRPr lang="en-US" sz="1600" dirty="0"/>
          </a:p>
        </p:txBody>
      </p:sp>
      <p:sp>
        <p:nvSpPr>
          <p:cNvPr id="30" name="Shape 27"/>
          <p:cNvSpPr/>
          <p:nvPr/>
        </p:nvSpPr>
        <p:spPr>
          <a:xfrm>
            <a:off x="635000" y="8331200"/>
            <a:ext cx="14986000" cy="12700"/>
          </a:xfrm>
          <a:prstGeom prst="rect">
            <a:avLst/>
          </a:prstGeom>
          <a:solidFill>
            <a:srgbClr val="D0D8E4"/>
          </a:solidFill>
          <a:ln/>
        </p:spPr>
      </p:sp>
      <p:sp>
        <p:nvSpPr>
          <p:cNvPr id="31" name="Text 28"/>
          <p:cNvSpPr/>
          <p:nvPr/>
        </p:nvSpPr>
        <p:spPr>
          <a:xfrm>
            <a:off x="15240000" y="8432800"/>
            <a:ext cx="762000" cy="279400"/>
          </a:xfrm>
          <a:prstGeom prst="rect">
            <a:avLst/>
          </a:prstGeom>
          <a:noFill/>
          <a:ln/>
        </p:spPr>
        <p:txBody>
          <a:bodyPr wrap="none" lIns="0" tIns="0" rIns="0" bIns="0" rtlCol="0" anchor="ctr"/>
          <a:lstStyle/>
          <a:p>
            <a:pPr algn="r">
              <a:lnSpc>
                <a:spcPct val="100000"/>
              </a:lnSpc>
            </a:pPr>
            <a:r>
              <a:rPr lang="en-US" sz="1200" dirty="0">
                <a:solidFill>
                  <a:srgbClr val="8899AA"/>
                </a:solidFill>
                <a:latin typeface="微软雅黑" pitchFamily="34" charset="0"/>
                <a:ea typeface="微软雅黑" pitchFamily="34" charset="-122"/>
                <a:cs typeface="微软雅黑" pitchFamily="34" charset="-120"/>
              </a:rPr>
              <a:t>05</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8940800" cy="9144000"/>
          </a:xfrm>
          <a:prstGeom prst="rect">
            <a:avLst/>
          </a:prstGeom>
          <a:solidFill>
            <a:srgbClr val="0F2647"/>
          </a:solidFill>
          <a:ln/>
        </p:spPr>
      </p:sp>
      <p:sp>
        <p:nvSpPr>
          <p:cNvPr id="3" name="Shape 1"/>
          <p:cNvSpPr/>
          <p:nvPr/>
        </p:nvSpPr>
        <p:spPr>
          <a:xfrm>
            <a:off x="0" y="0"/>
            <a:ext cx="8940800" cy="63500"/>
          </a:xfrm>
          <a:prstGeom prst="rect">
            <a:avLst/>
          </a:prstGeom>
          <a:solidFill>
            <a:srgbClr val="C9963B"/>
          </a:solidFill>
          <a:ln/>
        </p:spPr>
      </p:sp>
      <p:sp>
        <p:nvSpPr>
          <p:cNvPr id="4" name="Text 2"/>
          <p:cNvSpPr/>
          <p:nvPr/>
        </p:nvSpPr>
        <p:spPr>
          <a:xfrm>
            <a:off x="889000" y="2286000"/>
            <a:ext cx="7112000" cy="1651000"/>
          </a:xfrm>
          <a:prstGeom prst="rect">
            <a:avLst/>
          </a:prstGeom>
          <a:noFill/>
          <a:ln/>
        </p:spPr>
        <p:txBody>
          <a:bodyPr wrap="square" lIns="0" tIns="0" rIns="0" bIns="0" rtlCol="0" anchor="ctr"/>
          <a:lstStyle/>
          <a:p>
            <a:pPr>
              <a:lnSpc>
                <a:spcPct val="120000"/>
              </a:lnSpc>
            </a:pPr>
            <a:r>
              <a:rPr lang="en-US" sz="5400" b="1" dirty="0">
                <a:solidFill>
                  <a:srgbClr val="FFFFFF"/>
                </a:solidFill>
                <a:latin typeface="Sorts Mill Goudy" pitchFamily="34" charset="0"/>
                <a:ea typeface="Sorts Mill Goudy" pitchFamily="34" charset="-122"/>
                <a:cs typeface="Sorts Mill Goudy" pitchFamily="34" charset="-120"/>
              </a:rPr>
              <a:t>Merci</a:t>
            </a:r>
            <a:endParaRPr lang="en-US" sz="1600" dirty="0"/>
          </a:p>
          <a:p>
            <a:pPr>
              <a:lnSpc>
                <a:spcPct val="120000"/>
              </a:lnSpc>
            </a:pPr>
            <a:r>
              <a:rPr lang="en-US" sz="3600" dirty="0">
                <a:solidFill>
                  <a:srgbClr val="FFFFFF">
                    <a:alpha val="73300"/>
                  </a:srgbClr>
                </a:solidFill>
                <a:latin typeface="Sorts Mill Goudy" pitchFamily="34" charset="0"/>
                <a:ea typeface="Sorts Mill Goudy" pitchFamily="34" charset="-122"/>
                <a:cs typeface="Sorts Mill Goudy" pitchFamily="34" charset="-120"/>
              </a:rPr>
              <a:t>/ Thank You</a:t>
            </a:r>
            <a:endParaRPr lang="en-US" sz="1600" dirty="0"/>
          </a:p>
        </p:txBody>
      </p:sp>
      <p:sp>
        <p:nvSpPr>
          <p:cNvPr id="5" name="Shape 3"/>
          <p:cNvSpPr/>
          <p:nvPr/>
        </p:nvSpPr>
        <p:spPr>
          <a:xfrm>
            <a:off x="889000" y="4140200"/>
            <a:ext cx="2032000" cy="25400"/>
          </a:xfrm>
          <a:prstGeom prst="rect">
            <a:avLst/>
          </a:prstGeom>
          <a:solidFill>
            <a:srgbClr val="C9963B"/>
          </a:solidFill>
          <a:ln/>
        </p:spPr>
      </p:sp>
      <p:sp>
        <p:nvSpPr>
          <p:cNvPr id="6" name="Text 4"/>
          <p:cNvSpPr/>
          <p:nvPr/>
        </p:nvSpPr>
        <p:spPr>
          <a:xfrm>
            <a:off x="889000" y="4368800"/>
            <a:ext cx="7112000" cy="635000"/>
          </a:xfrm>
          <a:prstGeom prst="rect">
            <a:avLst/>
          </a:prstGeom>
          <a:noFill/>
          <a:ln/>
        </p:spPr>
        <p:txBody>
          <a:bodyPr wrap="square" lIns="0" tIns="0" rIns="0" bIns="0" rtlCol="0" anchor="ctr"/>
          <a:lstStyle/>
          <a:p>
            <a:pPr>
              <a:lnSpc>
                <a:spcPct val="100000"/>
              </a:lnSpc>
            </a:pPr>
            <a:r>
              <a:rPr lang="en-US" sz="1800" dirty="0">
                <a:solidFill>
                  <a:srgbClr val="FFFFFF">
                    <a:alpha val="80000"/>
                  </a:srgbClr>
                </a:solidFill>
                <a:latin typeface="Liter" pitchFamily="34" charset="0"/>
                <a:ea typeface="Liter" pitchFamily="34" charset="-122"/>
                <a:cs typeface="Liter" pitchFamily="34" charset="-120"/>
              </a:rPr>
              <a:t>Projet Data Warehouse — Architecture Bronze → Silver → Gold</a:t>
            </a:r>
            <a:endParaRPr lang="en-US" sz="1600" dirty="0"/>
          </a:p>
        </p:txBody>
      </p:sp>
      <p:sp>
        <p:nvSpPr>
          <p:cNvPr id="7" name="Text 5"/>
          <p:cNvSpPr/>
          <p:nvPr/>
        </p:nvSpPr>
        <p:spPr>
          <a:xfrm>
            <a:off x="889000" y="5080000"/>
            <a:ext cx="7112000" cy="1016000"/>
          </a:xfrm>
          <a:prstGeom prst="rect">
            <a:avLst/>
          </a:prstGeom>
          <a:noFill/>
          <a:ln/>
        </p:spPr>
        <p:txBody>
          <a:bodyPr wrap="square" lIns="0" tIns="0" rIns="0" bIns="0" rtlCol="0" anchor="ctr"/>
          <a:lstStyle/>
          <a:p>
            <a:pPr>
              <a:lnSpc>
                <a:spcPct val="160000"/>
              </a:lnSpc>
            </a:pPr>
            <a:r>
              <a:rPr lang="en-US" sz="1400" dirty="0">
                <a:solidFill>
                  <a:srgbClr val="FFFFFF">
                    <a:alpha val="53300"/>
                  </a:srgbClr>
                </a:solidFill>
                <a:latin typeface="Liter" pitchFamily="34" charset="0"/>
                <a:ea typeface="Liter" pitchFamily="34" charset="-122"/>
                <a:cs typeface="Liter" pitchFamily="34" charset="-120"/>
              </a:rPr>
              <a:t>Réalisé par : Mostapha M'bairik</a:t>
            </a:r>
            <a:endParaRPr lang="en-US" sz="1600" dirty="0"/>
          </a:p>
          <a:p>
            <a:pPr>
              <a:lnSpc>
                <a:spcPct val="160000"/>
              </a:lnSpc>
            </a:pPr>
            <a:r>
              <a:rPr lang="en-US" sz="1400" dirty="0">
                <a:solidFill>
                  <a:srgbClr val="FFFFFF">
                    <a:alpha val="53300"/>
                  </a:srgbClr>
                </a:solidFill>
                <a:latin typeface="Liter" pitchFamily="34" charset="0"/>
                <a:ea typeface="Liter" pitchFamily="34" charset="-122"/>
                <a:cs typeface="Liter" pitchFamily="34" charset="-120"/>
              </a:rPr>
              <a:t>Formation Data Analyst · Simplon x JobInTech · Mai 2026</a:t>
            </a:r>
            <a:endParaRPr lang="en-US" sz="1600" dirty="0"/>
          </a:p>
        </p:txBody>
      </p:sp>
      <p:sp>
        <p:nvSpPr>
          <p:cNvPr id="8" name="Text 6"/>
          <p:cNvSpPr/>
          <p:nvPr/>
        </p:nvSpPr>
        <p:spPr>
          <a:xfrm>
            <a:off x="889000" y="8382000"/>
            <a:ext cx="7112000" cy="457200"/>
          </a:xfrm>
          <a:prstGeom prst="rect">
            <a:avLst/>
          </a:prstGeom>
          <a:noFill/>
          <a:ln/>
        </p:spPr>
        <p:txBody>
          <a:bodyPr wrap="square" lIns="0" tIns="0" rIns="0" bIns="0" rtlCol="0" anchor="ctr"/>
          <a:lstStyle/>
          <a:p>
            <a:pPr>
              <a:lnSpc>
                <a:spcPct val="140000"/>
              </a:lnSpc>
            </a:pPr>
            <a:r>
              <a:rPr lang="en-US" sz="1100" dirty="0">
                <a:solidFill>
                  <a:srgbClr val="FFFFFF">
                    <a:alpha val="26700"/>
                  </a:srgbClr>
                </a:solidFill>
                <a:latin typeface="Liter" pitchFamily="34" charset="0"/>
                <a:ea typeface="Liter" pitchFamily="34" charset="-122"/>
                <a:cs typeface="Liter" pitchFamily="34" charset="-120"/>
              </a:rPr>
              <a:t>Pipeline ETL complet · SQL Server · T-SQL · Star Schema</a:t>
            </a:r>
            <a:endParaRPr lang="en-US" sz="1600" dirty="0"/>
          </a:p>
        </p:txBody>
      </p:sp>
      <p:sp>
        <p:nvSpPr>
          <p:cNvPr id="9" name="Shape 7"/>
          <p:cNvSpPr/>
          <p:nvPr/>
        </p:nvSpPr>
        <p:spPr>
          <a:xfrm>
            <a:off x="9249392" y="858678"/>
            <a:ext cx="6426200" cy="381000"/>
          </a:xfrm>
          <a:prstGeom prst="rect">
            <a:avLst/>
          </a:prstGeom>
          <a:solidFill>
            <a:srgbClr val="EBF0F7"/>
          </a:solidFill>
          <a:ln/>
        </p:spPr>
      </p:sp>
      <p:sp>
        <p:nvSpPr>
          <p:cNvPr id="10" name="Shape 8"/>
          <p:cNvSpPr/>
          <p:nvPr/>
        </p:nvSpPr>
        <p:spPr>
          <a:xfrm>
            <a:off x="9249392" y="858678"/>
            <a:ext cx="38100" cy="381000"/>
          </a:xfrm>
          <a:prstGeom prst="rect">
            <a:avLst/>
          </a:prstGeom>
          <a:solidFill>
            <a:srgbClr val="C9963B"/>
          </a:solidFill>
          <a:ln/>
        </p:spPr>
      </p:sp>
      <p:sp>
        <p:nvSpPr>
          <p:cNvPr id="11" name="Text 9"/>
          <p:cNvSpPr/>
          <p:nvPr/>
        </p:nvSpPr>
        <p:spPr>
          <a:xfrm>
            <a:off x="9350992" y="858678"/>
            <a:ext cx="6223000" cy="381000"/>
          </a:xfrm>
          <a:prstGeom prst="rect">
            <a:avLst/>
          </a:prstGeom>
          <a:noFill/>
          <a:ln/>
        </p:spPr>
        <p:txBody>
          <a:bodyPr wrap="none" lIns="0" tIns="0" rIns="0" bIns="0" rtlCol="0" anchor="ctr"/>
          <a:lstStyle/>
          <a:p>
            <a:pPr>
              <a:lnSpc>
                <a:spcPct val="100000"/>
              </a:lnSpc>
            </a:pPr>
            <a:r>
              <a:rPr lang="en-US" sz="1400" b="1" dirty="0">
                <a:solidFill>
                  <a:srgbClr val="1B3A6B"/>
                </a:solidFill>
                <a:latin typeface="Sorts Mill Goudy" pitchFamily="34" charset="0"/>
                <a:ea typeface="Sorts Mill Goudy" pitchFamily="34" charset="-122"/>
                <a:cs typeface="Sorts Mill Goudy" pitchFamily="34" charset="-120"/>
              </a:rPr>
              <a:t>Livrables du projet DELIVERABLES</a:t>
            </a:r>
            <a:endParaRPr lang="en-US" sz="1600" dirty="0"/>
          </a:p>
        </p:txBody>
      </p:sp>
      <p:sp>
        <p:nvSpPr>
          <p:cNvPr id="12" name="Text 10"/>
          <p:cNvSpPr/>
          <p:nvPr/>
        </p:nvSpPr>
        <p:spPr>
          <a:xfrm>
            <a:off x="9350992" y="1392078"/>
            <a:ext cx="6223000" cy="2921000"/>
          </a:xfrm>
          <a:prstGeom prst="rect">
            <a:avLst/>
          </a:prstGeom>
          <a:noFill/>
          <a:ln/>
        </p:spPr>
        <p:txBody>
          <a:bodyPr wrap="square" lIns="0" tIns="0" rIns="0" bIns="0" rtlCol="0" anchor="ctr"/>
          <a:lstStyle/>
          <a:p>
            <a:pPr>
              <a:lnSpc>
                <a:spcPct val="170000"/>
              </a:lnSpc>
            </a:pPr>
            <a:r>
              <a:rPr lang="en-US" sz="1300" b="1" dirty="0">
                <a:solidFill>
                  <a:srgbClr val="2D2D2D"/>
                </a:solidFill>
                <a:latin typeface="Liter" pitchFamily="34" charset="0"/>
                <a:ea typeface="Liter" pitchFamily="34" charset="-122"/>
                <a:cs typeface="Liter" pitchFamily="34" charset="-120"/>
              </a:rPr>
              <a:t>1. Scripts SQL complets</a:t>
            </a:r>
            <a:endParaRPr lang="en-US" sz="1600" dirty="0"/>
          </a:p>
          <a:p>
            <a:pPr>
              <a:lnSpc>
                <a:spcPct val="170000"/>
              </a:lnSpc>
            </a:pPr>
            <a:r>
              <a:rPr lang="en-US" sz="1200" dirty="0">
                <a:solidFill>
                  <a:srgbClr val="555555"/>
                </a:solidFill>
                <a:latin typeface="Liter" pitchFamily="34" charset="0"/>
                <a:ea typeface="Liter" pitchFamily="34" charset="-122"/>
                <a:cs typeface="Liter" pitchFamily="34" charset="-120"/>
              </a:rPr>
              <a:t>Création base, schémas, tables, vues, DQC — T-SQL</a:t>
            </a:r>
            <a:endParaRPr lang="en-US" sz="1600" dirty="0"/>
          </a:p>
          <a:p>
            <a:pPr>
              <a:lnSpc>
                <a:spcPct val="170000"/>
              </a:lnSpc>
              <a:spcBef>
                <a:spcPts val="600"/>
              </a:spcBef>
            </a:pPr>
            <a:r>
              <a:rPr lang="en-US" sz="1300" b="1" dirty="0">
                <a:solidFill>
                  <a:srgbClr val="2D2D2D"/>
                </a:solidFill>
                <a:latin typeface="Liter" pitchFamily="34" charset="0"/>
                <a:ea typeface="Liter" pitchFamily="34" charset="-122"/>
                <a:cs typeface="Liter" pitchFamily="34" charset="-120"/>
              </a:rPr>
              <a:t>2. DataWarehouse fonctionnel</a:t>
            </a:r>
            <a:endParaRPr lang="en-US" sz="1600" dirty="0"/>
          </a:p>
          <a:p>
            <a:pPr>
              <a:lnSpc>
                <a:spcPct val="170000"/>
              </a:lnSpc>
            </a:pPr>
            <a:r>
              <a:rPr lang="en-US" sz="1200" dirty="0">
                <a:solidFill>
                  <a:srgbClr val="555555"/>
                </a:solidFill>
                <a:latin typeface="Liter" pitchFamily="34" charset="0"/>
                <a:ea typeface="Liter" pitchFamily="34" charset="-122"/>
                <a:cs typeface="Liter" pitchFamily="34" charset="-120"/>
              </a:rPr>
              <a:t>Base SQL Server opérationnelle avec 3 couches</a:t>
            </a:r>
            <a:endParaRPr lang="en-US" sz="1600" dirty="0"/>
          </a:p>
          <a:p>
            <a:pPr>
              <a:lnSpc>
                <a:spcPct val="170000"/>
              </a:lnSpc>
              <a:spcBef>
                <a:spcPts val="600"/>
              </a:spcBef>
            </a:pPr>
            <a:r>
              <a:rPr lang="en-US" sz="1300" b="1" dirty="0">
                <a:solidFill>
                  <a:srgbClr val="2D2D2D"/>
                </a:solidFill>
                <a:latin typeface="Liter" pitchFamily="34" charset="0"/>
                <a:ea typeface="Liter" pitchFamily="34" charset="-122"/>
                <a:cs typeface="Liter" pitchFamily="34" charset="-120"/>
              </a:rPr>
              <a:t>3. Documentation README</a:t>
            </a:r>
            <a:endParaRPr lang="en-US" sz="1600" dirty="0"/>
          </a:p>
          <a:p>
            <a:pPr>
              <a:lnSpc>
                <a:spcPct val="170000"/>
              </a:lnSpc>
            </a:pPr>
            <a:r>
              <a:rPr lang="en-US" sz="1200" dirty="0">
                <a:solidFill>
                  <a:srgbClr val="555555"/>
                </a:solidFill>
                <a:latin typeface="Liter" pitchFamily="34" charset="0"/>
                <a:ea typeface="Liter" pitchFamily="34" charset="-122"/>
                <a:cs typeface="Liter" pitchFamily="34" charset="-120"/>
              </a:rPr>
              <a:t>Architecture, flux ETL, transformations, modèle Gold</a:t>
            </a:r>
            <a:endParaRPr lang="en-US" sz="1600" dirty="0"/>
          </a:p>
          <a:p>
            <a:pPr>
              <a:lnSpc>
                <a:spcPct val="170000"/>
              </a:lnSpc>
              <a:spcBef>
                <a:spcPts val="600"/>
              </a:spcBef>
            </a:pPr>
            <a:r>
              <a:rPr lang="en-US" sz="1300" b="1" dirty="0">
                <a:solidFill>
                  <a:srgbClr val="2D2D2D"/>
                </a:solidFill>
                <a:latin typeface="Liter" pitchFamily="34" charset="0"/>
                <a:ea typeface="Liter" pitchFamily="34" charset="-122"/>
                <a:cs typeface="Liter" pitchFamily="34" charset="-120"/>
              </a:rPr>
              <a:t>4. Présentation PowerPoint</a:t>
            </a:r>
            <a:endParaRPr lang="en-US" sz="1600" dirty="0"/>
          </a:p>
          <a:p>
            <a:pPr>
              <a:lnSpc>
                <a:spcPct val="170000"/>
              </a:lnSpc>
            </a:pPr>
            <a:r>
              <a:rPr lang="en-US" sz="1200" dirty="0">
                <a:solidFill>
                  <a:srgbClr val="555555"/>
                </a:solidFill>
                <a:latin typeface="Liter" pitchFamily="34" charset="0"/>
                <a:ea typeface="Liter" pitchFamily="34" charset="-122"/>
                <a:cs typeface="Liter" pitchFamily="34" charset="-120"/>
              </a:rPr>
              <a:t>Présentation du projet avec architecture et résultats</a:t>
            </a:r>
            <a:endParaRPr lang="en-US" sz="1600" dirty="0"/>
          </a:p>
        </p:txBody>
      </p:sp>
      <p:sp>
        <p:nvSpPr>
          <p:cNvPr id="13" name="Shape 11"/>
          <p:cNvSpPr/>
          <p:nvPr/>
        </p:nvSpPr>
        <p:spPr>
          <a:xfrm>
            <a:off x="9249392" y="4516278"/>
            <a:ext cx="6426200" cy="12700"/>
          </a:xfrm>
          <a:prstGeom prst="rect">
            <a:avLst/>
          </a:prstGeom>
          <a:solidFill>
            <a:srgbClr val="D0D8E4"/>
          </a:solidFill>
          <a:ln/>
        </p:spPr>
      </p:sp>
      <p:sp>
        <p:nvSpPr>
          <p:cNvPr id="14" name="Shape 12"/>
          <p:cNvSpPr/>
          <p:nvPr/>
        </p:nvSpPr>
        <p:spPr>
          <a:xfrm>
            <a:off x="9249392" y="4617878"/>
            <a:ext cx="6426200" cy="381000"/>
          </a:xfrm>
          <a:prstGeom prst="rect">
            <a:avLst/>
          </a:prstGeom>
          <a:solidFill>
            <a:srgbClr val="EBF0F7"/>
          </a:solidFill>
          <a:ln/>
        </p:spPr>
      </p:sp>
      <p:sp>
        <p:nvSpPr>
          <p:cNvPr id="15" name="Shape 13"/>
          <p:cNvSpPr/>
          <p:nvPr/>
        </p:nvSpPr>
        <p:spPr>
          <a:xfrm>
            <a:off x="9249392" y="4617878"/>
            <a:ext cx="38100" cy="381000"/>
          </a:xfrm>
          <a:prstGeom prst="rect">
            <a:avLst/>
          </a:prstGeom>
          <a:solidFill>
            <a:srgbClr val="1B3A6B"/>
          </a:solidFill>
          <a:ln/>
        </p:spPr>
      </p:sp>
      <p:sp>
        <p:nvSpPr>
          <p:cNvPr id="16" name="Text 14"/>
          <p:cNvSpPr/>
          <p:nvPr/>
        </p:nvSpPr>
        <p:spPr>
          <a:xfrm>
            <a:off x="9350992" y="4617878"/>
            <a:ext cx="6223000" cy="381000"/>
          </a:xfrm>
          <a:prstGeom prst="rect">
            <a:avLst/>
          </a:prstGeom>
          <a:noFill/>
          <a:ln/>
        </p:spPr>
        <p:txBody>
          <a:bodyPr wrap="none" lIns="0" tIns="0" rIns="0" bIns="0" rtlCol="0" anchor="ctr"/>
          <a:lstStyle/>
          <a:p>
            <a:pPr>
              <a:lnSpc>
                <a:spcPct val="100000"/>
              </a:lnSpc>
            </a:pPr>
            <a:r>
              <a:rPr lang="en-US" sz="1400" b="1" dirty="0">
                <a:solidFill>
                  <a:srgbClr val="1B3A6B"/>
                </a:solidFill>
                <a:latin typeface="Sorts Mill Goudy" pitchFamily="34" charset="0"/>
                <a:ea typeface="Sorts Mill Goudy" pitchFamily="34" charset="-122"/>
                <a:cs typeface="Sorts Mill Goudy" pitchFamily="34" charset="-120"/>
              </a:rPr>
              <a:t>Compétences acquises SKILLS</a:t>
            </a:r>
            <a:endParaRPr lang="en-US" sz="1600" dirty="0"/>
          </a:p>
        </p:txBody>
      </p:sp>
      <p:sp>
        <p:nvSpPr>
          <p:cNvPr id="17" name="Text 15"/>
          <p:cNvSpPr/>
          <p:nvPr/>
        </p:nvSpPr>
        <p:spPr>
          <a:xfrm>
            <a:off x="9350992" y="5125878"/>
            <a:ext cx="6223000" cy="2667000"/>
          </a:xfrm>
          <a:prstGeom prst="rect">
            <a:avLst/>
          </a:prstGeom>
          <a:noFill/>
          <a:ln/>
        </p:spPr>
        <p:txBody>
          <a:bodyPr wrap="square" lIns="0" tIns="0" rIns="0" bIns="0" rtlCol="0" anchor="ctr"/>
          <a:lstStyle/>
          <a:p>
            <a:pPr>
              <a:lnSpc>
                <a:spcPct val="160000"/>
              </a:lnSpc>
            </a:pPr>
            <a:r>
              <a:rPr lang="en-US" sz="1300" b="1" dirty="0">
                <a:solidFill>
                  <a:srgbClr val="1B3A6B"/>
                </a:solidFill>
                <a:latin typeface="Liter" pitchFamily="34" charset="0"/>
                <a:ea typeface="Liter" pitchFamily="34" charset="-122"/>
                <a:cs typeface="Liter" pitchFamily="34" charset="-120"/>
              </a:rPr>
              <a:t>Architecture Data Warehouse</a:t>
            </a:r>
            <a:endParaRPr lang="en-US" sz="1600" dirty="0"/>
          </a:p>
          <a:p>
            <a:pPr>
              <a:lnSpc>
                <a:spcPct val="160000"/>
              </a:lnSpc>
            </a:pPr>
            <a:r>
              <a:rPr lang="en-US" sz="1200" dirty="0">
                <a:solidFill>
                  <a:srgbClr val="555555"/>
                </a:solidFill>
                <a:latin typeface="Liter" pitchFamily="34" charset="0"/>
                <a:ea typeface="Liter" pitchFamily="34" charset="-122"/>
                <a:cs typeface="Liter" pitchFamily="34" charset="-120"/>
              </a:rPr>
              <a:t>Bronze / Silver / Gold · Schémas SQL · Séparation des responsabilités</a:t>
            </a:r>
            <a:endParaRPr lang="en-US" sz="1600" dirty="0"/>
          </a:p>
          <a:p>
            <a:pPr>
              <a:lnSpc>
                <a:spcPct val="160000"/>
              </a:lnSpc>
              <a:spcBef>
                <a:spcPts val="400"/>
              </a:spcBef>
            </a:pPr>
            <a:r>
              <a:rPr lang="en-US" sz="1300" b="1" dirty="0">
                <a:solidFill>
                  <a:srgbClr val="1B3A6B"/>
                </a:solidFill>
                <a:latin typeface="Liter" pitchFamily="34" charset="0"/>
                <a:ea typeface="Liter" pitchFamily="34" charset="-122"/>
                <a:cs typeface="Liter" pitchFamily="34" charset="-120"/>
              </a:rPr>
              <a:t>ETL et T-SQL avancé</a:t>
            </a:r>
            <a:endParaRPr lang="en-US" sz="1600" dirty="0"/>
          </a:p>
          <a:p>
            <a:pPr>
              <a:lnSpc>
                <a:spcPct val="160000"/>
              </a:lnSpc>
            </a:pPr>
            <a:r>
              <a:rPr lang="en-US" sz="1200" dirty="0">
                <a:solidFill>
                  <a:srgbClr val="555555"/>
                </a:solidFill>
                <a:latin typeface="Liter" pitchFamily="34" charset="0"/>
                <a:ea typeface="Liter" pitchFamily="34" charset="-122"/>
                <a:cs typeface="Liter" pitchFamily="34" charset="-120"/>
              </a:rPr>
              <a:t>BULK INSERT · CAST · TRIM · JOIN · GROUP BY · Vues SQL</a:t>
            </a:r>
            <a:endParaRPr lang="en-US" sz="1600" dirty="0"/>
          </a:p>
          <a:p>
            <a:pPr>
              <a:lnSpc>
                <a:spcPct val="160000"/>
              </a:lnSpc>
              <a:spcBef>
                <a:spcPts val="400"/>
              </a:spcBef>
            </a:pPr>
            <a:r>
              <a:rPr lang="en-US" sz="1300" b="1" dirty="0">
                <a:solidFill>
                  <a:srgbClr val="1B3A6B"/>
                </a:solidFill>
                <a:latin typeface="Liter" pitchFamily="34" charset="0"/>
                <a:ea typeface="Liter" pitchFamily="34" charset="-122"/>
                <a:cs typeface="Liter" pitchFamily="34" charset="-120"/>
              </a:rPr>
              <a:t>Modélisation de données</a:t>
            </a:r>
            <a:endParaRPr lang="en-US" sz="1600" dirty="0"/>
          </a:p>
          <a:p>
            <a:pPr>
              <a:lnSpc>
                <a:spcPct val="160000"/>
              </a:lnSpc>
            </a:pPr>
            <a:r>
              <a:rPr lang="en-US" sz="1200" dirty="0">
                <a:solidFill>
                  <a:srgbClr val="555555"/>
                </a:solidFill>
                <a:latin typeface="Liter" pitchFamily="34" charset="0"/>
                <a:ea typeface="Liter" pitchFamily="34" charset="-122"/>
                <a:cs typeface="Liter" pitchFamily="34" charset="-120"/>
              </a:rPr>
              <a:t>Star Schema · Dimensions · Tables de faits · Clés PK/FK</a:t>
            </a:r>
            <a:endParaRPr lang="en-US" sz="1600" dirty="0"/>
          </a:p>
          <a:p>
            <a:pPr>
              <a:lnSpc>
                <a:spcPct val="160000"/>
              </a:lnSpc>
              <a:spcBef>
                <a:spcPts val="400"/>
              </a:spcBef>
            </a:pPr>
            <a:r>
              <a:rPr lang="en-US" sz="1300" b="1" dirty="0">
                <a:solidFill>
                  <a:srgbClr val="1B3A6B"/>
                </a:solidFill>
                <a:latin typeface="Liter" pitchFamily="34" charset="0"/>
                <a:ea typeface="Liter" pitchFamily="34" charset="-122"/>
                <a:cs typeface="Liter" pitchFamily="34" charset="-120"/>
              </a:rPr>
              <a:t>Qualité des données</a:t>
            </a:r>
            <a:endParaRPr lang="en-US" sz="1600" dirty="0"/>
          </a:p>
          <a:p>
            <a:pPr>
              <a:lnSpc>
                <a:spcPct val="160000"/>
              </a:lnSpc>
            </a:pPr>
            <a:r>
              <a:rPr lang="en-US" sz="1200" dirty="0">
                <a:solidFill>
                  <a:srgbClr val="555555"/>
                </a:solidFill>
                <a:latin typeface="Liter" pitchFamily="34" charset="0"/>
                <a:ea typeface="Liter" pitchFamily="34" charset="-122"/>
                <a:cs typeface="Liter" pitchFamily="34" charset="-120"/>
              </a:rPr>
              <a:t>Complétude · Unicité · Validité · Intégrité référentielle</a:t>
            </a:r>
            <a:endParaRPr lang="en-US" sz="1600" dirty="0"/>
          </a:p>
        </p:txBody>
      </p:sp>
      <p:sp>
        <p:nvSpPr>
          <p:cNvPr id="18" name="Shape 16"/>
          <p:cNvSpPr/>
          <p:nvPr/>
        </p:nvSpPr>
        <p:spPr>
          <a:xfrm>
            <a:off x="9249392" y="7792878"/>
            <a:ext cx="2540000" cy="12700"/>
          </a:xfrm>
          <a:prstGeom prst="rect">
            <a:avLst/>
          </a:prstGeom>
          <a:solidFill>
            <a:srgbClr val="C9963B"/>
          </a:solidFill>
          <a:ln/>
        </p:spPr>
      </p:sp>
      <p:sp>
        <p:nvSpPr>
          <p:cNvPr id="20" name="Shape 18"/>
          <p:cNvSpPr/>
          <p:nvPr/>
        </p:nvSpPr>
        <p:spPr>
          <a:xfrm>
            <a:off x="9194800" y="8331200"/>
            <a:ext cx="6426200" cy="12700"/>
          </a:xfrm>
          <a:prstGeom prst="rect">
            <a:avLst/>
          </a:prstGeom>
          <a:solidFill>
            <a:srgbClr val="D0D8E4"/>
          </a:solidFill>
          <a:ln/>
        </p:spPr>
      </p:sp>
      <p:sp>
        <p:nvSpPr>
          <p:cNvPr id="21" name="Text 19"/>
          <p:cNvSpPr/>
          <p:nvPr/>
        </p:nvSpPr>
        <p:spPr>
          <a:xfrm>
            <a:off x="14859000" y="8432800"/>
            <a:ext cx="762000" cy="279400"/>
          </a:xfrm>
          <a:prstGeom prst="rect">
            <a:avLst/>
          </a:prstGeom>
          <a:noFill/>
          <a:ln/>
        </p:spPr>
        <p:txBody>
          <a:bodyPr wrap="none" lIns="0" tIns="0" rIns="0" bIns="0" rtlCol="0" anchor="ctr"/>
          <a:lstStyle/>
          <a:p>
            <a:pPr algn="r">
              <a:lnSpc>
                <a:spcPct val="100000"/>
              </a:lnSpc>
            </a:pPr>
            <a:r>
              <a:rPr lang="en-US" sz="1200" dirty="0">
                <a:solidFill>
                  <a:srgbClr val="8899AA"/>
                </a:solidFill>
                <a:latin typeface="微软雅黑" pitchFamily="34" charset="0"/>
                <a:ea typeface="微软雅黑" pitchFamily="34" charset="-122"/>
                <a:cs typeface="微软雅黑" pitchFamily="34" charset="-120"/>
              </a:rPr>
              <a:t>06</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TotalTime>
  <Words>1383</Words>
  <Application>Microsoft Office PowerPoint</Application>
  <PresentationFormat>Custom</PresentationFormat>
  <Paragraphs>223</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Liter</vt:lpstr>
      <vt:lpstr>Sorts Mill Goudy</vt:lpstr>
      <vt:lpstr>Arial</vt:lpstr>
      <vt:lpstr>微软雅黑</vt:lpstr>
      <vt:lpstr>Custom Theme</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Construction d'un Data Warehouse - Bronze Silver Gold</dc:title>
  <dc:subject>Construction d'un Data Warehouse - Bronze Silver Gold</dc:subject>
  <dc:creator>Kimi</dc:creator>
  <cp:lastModifiedBy>Mostapha m'bairik</cp:lastModifiedBy>
  <cp:revision>7</cp:revision>
  <dcterms:created xsi:type="dcterms:W3CDTF">2026-05-14T23:33:10Z</dcterms:created>
  <dcterms:modified xsi:type="dcterms:W3CDTF">2026-05-15T11:02:11Z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{"Label":"Construction d'un Data Warehouse - Bronze Silver Gold","ContentProducer":"001191110108MACG2KBH8F10000","ProduceID":"19e28975-49b2-8de2-8000-0000e0b2e607","ReservedCode1":"","ContentPropagator":"001191110108MACG2KBH8F20000","PropagateID":"19e28975-49b2-8de2-8000-0000e0b2e607","ReservedCode2":""}</vt:lpwstr>
  </property>
</Properties>
</file>